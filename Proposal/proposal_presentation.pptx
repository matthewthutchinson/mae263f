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Lst>
  <p:sldSz cy="5143500" cx="9144000"/>
  <p:notesSz cx="6858000" cy="9144000"/>
  <p:embeddedFontLst>
    <p:embeddedFont>
      <p:font typeface="Average"/>
      <p:regular r:id="rId10"/>
    </p:embeddedFont>
    <p:embeddedFont>
      <p:font typeface="Helvetica Neue"/>
      <p:regular r:id="rId11"/>
      <p:bold r:id="rId12"/>
      <p:italic r:id="rId13"/>
      <p:boldItalic r:id="rId14"/>
    </p:embeddedFont>
    <p:embeddedFont>
      <p:font typeface="Oswald"/>
      <p:regular r:id="rId15"/>
      <p:bold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font" Target="fonts/HelveticaNeue-regular.fntdata"/><Relationship Id="rId10" Type="http://schemas.openxmlformats.org/officeDocument/2006/relationships/font" Target="fonts/Average-regular.fntdata"/><Relationship Id="rId13" Type="http://schemas.openxmlformats.org/officeDocument/2006/relationships/font" Target="fonts/HelveticaNeue-italic.fntdata"/><Relationship Id="rId12" Type="http://schemas.openxmlformats.org/officeDocument/2006/relationships/font" Target="fonts/HelveticaNeue-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Oswald-regular.fntdata"/><Relationship Id="rId14" Type="http://schemas.openxmlformats.org/officeDocument/2006/relationships/font" Target="fonts/HelveticaNeue-boldItalic.fntdata"/><Relationship Id="rId16" Type="http://schemas.openxmlformats.org/officeDocument/2006/relationships/font" Target="fonts/Oswa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139700" rtl="0" algn="l">
              <a:lnSpc>
                <a:spcPct val="115000"/>
              </a:lnSpc>
              <a:spcBef>
                <a:spcPts val="0"/>
              </a:spcBef>
              <a:spcAft>
                <a:spcPts val="0"/>
              </a:spcAft>
              <a:buClr>
                <a:schemeClr val="dk1"/>
              </a:buClr>
              <a:buSzPts val="1100"/>
              <a:buFont typeface="Arial"/>
              <a:buNone/>
            </a:pPr>
            <a:r>
              <a:rPr lang="en" sz="1200">
                <a:solidFill>
                  <a:srgbClr val="0E0E0E"/>
                </a:solidFill>
              </a:rPr>
              <a:t>Birds like falcons and swifts can twist and camber their wings mid-flight, giving them incredible agility and efficiency. We’re drawing inspiration from these mechanisms to simulate similar shape morphing in a flexible, continuous wing structure</a:t>
            </a:r>
            <a:endParaRPr sz="1200">
              <a:solidFill>
                <a:srgbClr val="0E0E0E"/>
              </a:solidFill>
            </a:endParaRPr>
          </a:p>
          <a:p>
            <a:pPr indent="0" lvl="0" marL="0" rtl="0" algn="l">
              <a:spcBef>
                <a:spcPts val="0"/>
              </a:spcBef>
              <a:spcAft>
                <a:spcPts val="0"/>
              </a:spcAft>
              <a:buNone/>
            </a:pPr>
            <a:r>
              <a:t/>
            </a:r>
            <a:endParaRPr sz="1500">
              <a:solidFill>
                <a:srgbClr val="0E0E0E"/>
              </a:solidFil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9fb9b05698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9fb9b05698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139700" rtl="0" algn="l">
              <a:lnSpc>
                <a:spcPct val="115000"/>
              </a:lnSpc>
              <a:spcBef>
                <a:spcPts val="0"/>
              </a:spcBef>
              <a:spcAft>
                <a:spcPts val="0"/>
              </a:spcAft>
              <a:buClr>
                <a:schemeClr val="dk1"/>
              </a:buClr>
              <a:buSzPts val="1100"/>
              <a:buFont typeface="Arial"/>
              <a:buNone/>
            </a:pPr>
            <a:r>
              <a:rPr lang="en" sz="1500">
                <a:solidFill>
                  <a:srgbClr val="0E0E0E"/>
                </a:solidFill>
              </a:rPr>
              <a:t>Conventional aircraft rely on discrete flaps and rudders, which create sharp geometry changes that can cause flow separation and reduce efficiency—especially during dynamic maneuvers. Birds achieve similar control by smoothly twisting and cambering their wings, which reduces drag and enables passive gust rejection.</a:t>
            </a:r>
            <a:endParaRPr sz="1500">
              <a:solidFill>
                <a:srgbClr val="0E0E0E"/>
              </a:solidFill>
            </a:endParaRPr>
          </a:p>
          <a:p>
            <a:pPr indent="0" lvl="0" marL="139700" rtl="0" algn="l">
              <a:lnSpc>
                <a:spcPct val="115000"/>
              </a:lnSpc>
              <a:spcBef>
                <a:spcPts val="0"/>
              </a:spcBef>
              <a:spcAft>
                <a:spcPts val="0"/>
              </a:spcAft>
              <a:buClr>
                <a:schemeClr val="dk1"/>
              </a:buClr>
              <a:buSzPts val="1100"/>
              <a:buFont typeface="Arial"/>
              <a:buNone/>
            </a:pPr>
            <a:r>
              <a:t/>
            </a:r>
            <a:endParaRPr sz="1500">
              <a:solidFill>
                <a:srgbClr val="0E0E0E"/>
              </a:solidFill>
            </a:endParaRPr>
          </a:p>
          <a:p>
            <a:pPr indent="0" lvl="0" marL="139700" rtl="0" algn="l">
              <a:lnSpc>
                <a:spcPct val="115000"/>
              </a:lnSpc>
              <a:spcBef>
                <a:spcPts val="0"/>
              </a:spcBef>
              <a:spcAft>
                <a:spcPts val="0"/>
              </a:spcAft>
              <a:buNone/>
            </a:pPr>
            <a:r>
              <a:rPr lang="en" sz="1500">
                <a:solidFill>
                  <a:srgbClr val="0E0E0E"/>
                </a:solidFill>
              </a:rPr>
              <a:t>For rolling, birds often twist one wing side—pronating and supinating—or fold one wing while extending the other. These strategies allow smooth, continuous control without the need for ailerons or rudders.</a:t>
            </a:r>
            <a:endParaRPr sz="1500">
              <a:solidFill>
                <a:srgbClr val="0E0E0E"/>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9faab4c410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9faab4c410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139700" rtl="0" algn="l">
              <a:lnSpc>
                <a:spcPct val="115000"/>
              </a:lnSpc>
              <a:spcBef>
                <a:spcPts val="0"/>
              </a:spcBef>
              <a:spcAft>
                <a:spcPts val="0"/>
              </a:spcAft>
              <a:buNone/>
            </a:pPr>
            <a:r>
              <a:rPr lang="en" sz="1200">
                <a:solidFill>
                  <a:srgbClr val="0E0E0E"/>
                </a:solidFill>
              </a:rPr>
              <a:t>Camber controls the curvature of the wing and influences lift, while twist lets birds change the angle of attack along the span—essential for roll, stability, and gust adaptation. If we can replicate this in a continuous flexible structure, it could transform how UAVs respond in real-time flight</a:t>
            </a:r>
            <a:endParaRPr sz="1200">
              <a:solidFill>
                <a:schemeClr val="dk1"/>
              </a:solidFil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g39fb9b05698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g39fb9b05698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139700" rtl="0" algn="l">
              <a:lnSpc>
                <a:spcPct val="115000"/>
              </a:lnSpc>
              <a:spcBef>
                <a:spcPts val="0"/>
              </a:spcBef>
              <a:spcAft>
                <a:spcPts val="0"/>
              </a:spcAft>
              <a:buNone/>
            </a:pPr>
            <a:r>
              <a:rPr lang="en" sz="1500">
                <a:solidFill>
                  <a:srgbClr val="0E0E0E"/>
                </a:solidFill>
              </a:rPr>
              <a:t>We’re modeling the wing as a continuous elastic beam and applying torque and bending to simulate twist and camber deformations. We’ll analyze the resulting shape, curvature, and internal stress to understand how morphing can emerge from structure alone—without hinges or actuators</a:t>
            </a:r>
            <a:endParaRPr sz="1500">
              <a:solidFill>
                <a:srgbClr val="0E0E0E"/>
              </a:solidFil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grpSp>
        <p:nvGrpSpPr>
          <p:cNvPr id="10" name="Google Shape;10;p2"/>
          <p:cNvGrpSpPr/>
          <p:nvPr/>
        </p:nvGrpSpPr>
        <p:grpSpPr>
          <a:xfrm>
            <a:off x="4350279" y="2855377"/>
            <a:ext cx="443589" cy="105632"/>
            <a:chOff x="4137525" y="2915950"/>
            <a:chExt cx="869100" cy="207000"/>
          </a:xfrm>
        </p:grpSpPr>
        <p:sp>
          <p:nvSpPr>
            <p:cNvPr id="11" name="Google Shape;11;p2"/>
            <p:cNvSpPr/>
            <p:nvPr/>
          </p:nvSpPr>
          <p:spPr>
            <a:xfrm>
              <a:off x="446857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47996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41375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671258" y="990800"/>
            <a:ext cx="7801500" cy="1730100"/>
          </a:xfrm>
          <a:prstGeom prst="rect">
            <a:avLst/>
          </a:prstGeom>
        </p:spPr>
        <p:txBody>
          <a:bodyPr anchorCtr="0" anchor="b" bIns="91425" lIns="91425" spcFirstLastPara="1" rIns="91425" wrap="square" tIns="91425">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5" name="Google Shape;15;p2"/>
          <p:cNvSpPr txBox="1"/>
          <p:nvPr>
            <p:ph idx="1" type="subTitle"/>
          </p:nvPr>
        </p:nvSpPr>
        <p:spPr>
          <a:xfrm>
            <a:off x="671250" y="3174876"/>
            <a:ext cx="78015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6" name="Google Shape;16;p2"/>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3"/>
          <p:cNvSpPr txBox="1"/>
          <p:nvPr>
            <p:ph type="title"/>
          </p:nvPr>
        </p:nvSpPr>
        <p:spPr>
          <a:xfrm>
            <a:off x="671250" y="2141250"/>
            <a:ext cx="7852200" cy="8610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3"/>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6" name="Google Shape;26;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1" name="Google Shape;31;p6"/>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7"/>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490250" y="526350"/>
            <a:ext cx="62271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38" name="Google Shape;38;p8"/>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 name="Google Shape;4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2" name="Google Shape;42;p9"/>
          <p:cNvSpPr txBox="1"/>
          <p:nvPr>
            <p:ph type="title"/>
          </p:nvPr>
        </p:nvSpPr>
        <p:spPr>
          <a:xfrm>
            <a:off x="265500" y="1081400"/>
            <a:ext cx="4045200" cy="1710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3" name="Google Shape;43;p9"/>
          <p:cNvSpPr txBox="1"/>
          <p:nvPr>
            <p:ph idx="1" type="subTitle"/>
          </p:nvPr>
        </p:nvSpPr>
        <p:spPr>
          <a:xfrm>
            <a:off x="265500" y="28452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chemeClr val="dk1"/>
              </a:buClr>
              <a:buSzPts val="2100"/>
              <a:buNone/>
              <a:defRPr sz="2100">
                <a:solidFill>
                  <a:schemeClr val="dk1"/>
                </a:solidFill>
              </a:defRPr>
            </a:lvl1pPr>
            <a:lvl2pPr lvl="1" algn="ctr">
              <a:lnSpc>
                <a:spcPct val="100000"/>
              </a:lnSpc>
              <a:spcBef>
                <a:spcPts val="0"/>
              </a:spcBef>
              <a:spcAft>
                <a:spcPts val="0"/>
              </a:spcAft>
              <a:buClr>
                <a:schemeClr val="dk1"/>
              </a:buClr>
              <a:buSzPts val="2100"/>
              <a:buNone/>
              <a:defRPr sz="2100">
                <a:solidFill>
                  <a:schemeClr val="dk1"/>
                </a:solidFill>
              </a:defRPr>
            </a:lvl2pPr>
            <a:lvl3pPr lvl="2" algn="ctr">
              <a:lnSpc>
                <a:spcPct val="100000"/>
              </a:lnSpc>
              <a:spcBef>
                <a:spcPts val="0"/>
              </a:spcBef>
              <a:spcAft>
                <a:spcPts val="0"/>
              </a:spcAft>
              <a:buClr>
                <a:schemeClr val="dk1"/>
              </a:buClr>
              <a:buSzPts val="2100"/>
              <a:buNone/>
              <a:defRPr sz="2100">
                <a:solidFill>
                  <a:schemeClr val="dk1"/>
                </a:solidFill>
              </a:defRPr>
            </a:lvl3pPr>
            <a:lvl4pPr lvl="3" algn="ctr">
              <a:lnSpc>
                <a:spcPct val="100000"/>
              </a:lnSpc>
              <a:spcBef>
                <a:spcPts val="0"/>
              </a:spcBef>
              <a:spcAft>
                <a:spcPts val="0"/>
              </a:spcAft>
              <a:buClr>
                <a:schemeClr val="dk1"/>
              </a:buClr>
              <a:buSzPts val="2100"/>
              <a:buNone/>
              <a:defRPr sz="2100">
                <a:solidFill>
                  <a:schemeClr val="dk1"/>
                </a:solidFill>
              </a:defRPr>
            </a:lvl4pPr>
            <a:lvl5pPr lvl="4" algn="ctr">
              <a:lnSpc>
                <a:spcPct val="100000"/>
              </a:lnSpc>
              <a:spcBef>
                <a:spcPts val="0"/>
              </a:spcBef>
              <a:spcAft>
                <a:spcPts val="0"/>
              </a:spcAft>
              <a:buClr>
                <a:schemeClr val="dk1"/>
              </a:buClr>
              <a:buSzPts val="2100"/>
              <a:buNone/>
              <a:defRPr sz="2100">
                <a:solidFill>
                  <a:schemeClr val="dk1"/>
                </a:solidFill>
              </a:defRPr>
            </a:lvl5pPr>
            <a:lvl6pPr lvl="5" algn="ctr">
              <a:lnSpc>
                <a:spcPct val="100000"/>
              </a:lnSpc>
              <a:spcBef>
                <a:spcPts val="0"/>
              </a:spcBef>
              <a:spcAft>
                <a:spcPts val="0"/>
              </a:spcAft>
              <a:buClr>
                <a:schemeClr val="dk1"/>
              </a:buClr>
              <a:buSzPts val="2100"/>
              <a:buNone/>
              <a:defRPr sz="2100">
                <a:solidFill>
                  <a:schemeClr val="dk1"/>
                </a:solidFill>
              </a:defRPr>
            </a:lvl6pPr>
            <a:lvl7pPr lvl="6" algn="ctr">
              <a:lnSpc>
                <a:spcPct val="100000"/>
              </a:lnSpc>
              <a:spcBef>
                <a:spcPts val="0"/>
              </a:spcBef>
              <a:spcAft>
                <a:spcPts val="0"/>
              </a:spcAft>
              <a:buClr>
                <a:schemeClr val="dk1"/>
              </a:buClr>
              <a:buSzPts val="2100"/>
              <a:buNone/>
              <a:defRPr sz="2100">
                <a:solidFill>
                  <a:schemeClr val="dk1"/>
                </a:solidFill>
              </a:defRPr>
            </a:lvl7pPr>
            <a:lvl8pPr lvl="7" algn="ctr">
              <a:lnSpc>
                <a:spcPct val="100000"/>
              </a:lnSpc>
              <a:spcBef>
                <a:spcPts val="0"/>
              </a:spcBef>
              <a:spcAft>
                <a:spcPts val="0"/>
              </a:spcAft>
              <a:buClr>
                <a:schemeClr val="dk1"/>
              </a:buClr>
              <a:buSzPts val="2100"/>
              <a:buNone/>
              <a:defRPr sz="2100">
                <a:solidFill>
                  <a:schemeClr val="dk1"/>
                </a:solidFill>
              </a:defRPr>
            </a:lvl8pPr>
            <a:lvl9pPr lvl="8" algn="ctr">
              <a:lnSpc>
                <a:spcPct val="100000"/>
              </a:lnSpc>
              <a:spcBef>
                <a:spcPts val="0"/>
              </a:spcBef>
              <a:spcAft>
                <a:spcPts val="0"/>
              </a:spcAft>
              <a:buClr>
                <a:schemeClr val="dk1"/>
              </a:buClr>
              <a:buSzPts val="2100"/>
              <a:buNone/>
              <a:defRPr sz="2100">
                <a:solidFill>
                  <a:schemeClr val="dk1"/>
                </a:solidFill>
              </a:defRPr>
            </a:lvl9pPr>
          </a:lstStyle>
          <a:p/>
        </p:txBody>
      </p:sp>
      <p:sp>
        <p:nvSpPr>
          <p:cNvPr id="44" name="Google Shape;44;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45" name="Google Shape;45;p9"/>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 name="Shape 46"/>
        <p:cNvGrpSpPr/>
        <p:nvPr/>
      </p:nvGrpSpPr>
      <p:grpSpPr>
        <a:xfrm>
          <a:off x="0" y="0"/>
          <a:ext cx="0" cy="0"/>
          <a:chOff x="0" y="0"/>
          <a:chExt cx="0" cy="0"/>
        </a:xfrm>
      </p:grpSpPr>
      <p:sp>
        <p:nvSpPr>
          <p:cNvPr id="47" name="Google Shape;47;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Clr>
                <a:schemeClr val="dk1"/>
              </a:buClr>
              <a:buSzPts val="2100"/>
              <a:buFont typeface="Oswald"/>
              <a:buNone/>
              <a:defRPr sz="2100">
                <a:solidFill>
                  <a:schemeClr val="dk1"/>
                </a:solidFill>
                <a:latin typeface="Oswald"/>
                <a:ea typeface="Oswald"/>
                <a:cs typeface="Oswald"/>
                <a:sym typeface="Oswald"/>
              </a:defRPr>
            </a:lvl1pPr>
          </a:lstStyle>
          <a:p/>
        </p:txBody>
      </p:sp>
      <p:sp>
        <p:nvSpPr>
          <p:cNvPr id="48" name="Google Shape;48;p10"/>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9" name="Shape 49"/>
        <p:cNvGrpSpPr/>
        <p:nvPr/>
      </p:nvGrpSpPr>
      <p:grpSpPr>
        <a:xfrm>
          <a:off x="0" y="0"/>
          <a:ext cx="0" cy="0"/>
          <a:chOff x="0" y="0"/>
          <a:chExt cx="0" cy="0"/>
        </a:xfrm>
      </p:grpSpPr>
      <p:sp>
        <p:nvSpPr>
          <p:cNvPr id="50" name="Google Shape;50;p11"/>
          <p:cNvSpPr txBox="1"/>
          <p:nvPr>
            <p:ph hasCustomPrompt="1" type="title"/>
          </p:nvPr>
        </p:nvSpPr>
        <p:spPr>
          <a:xfrm>
            <a:off x="311700" y="1255275"/>
            <a:ext cx="8520600" cy="18906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1" name="Google Shape;51;p11"/>
          <p:cNvSpPr txBox="1"/>
          <p:nvPr>
            <p:ph idx="1" type="body"/>
          </p:nvPr>
        </p:nvSpPr>
        <p:spPr>
          <a:xfrm>
            <a:off x="311700" y="32284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2" name="Google Shape;52;p11"/>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3" name="Shape 53"/>
        <p:cNvGrpSpPr/>
        <p:nvPr/>
      </p:nvGrpSpPr>
      <p:grpSpPr>
        <a:xfrm>
          <a:off x="0" y="0"/>
          <a:ext cx="0" cy="0"/>
          <a:chOff x="0" y="0"/>
          <a:chExt cx="0" cy="0"/>
        </a:xfrm>
      </p:grpSpPr>
      <p:sp>
        <p:nvSpPr>
          <p:cNvPr id="54" name="Google Shape;54;p12"/>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lat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1pPr>
            <a:lvl2pPr lvl="1">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2pPr>
            <a:lvl3pPr lvl="2">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3pPr>
            <a:lvl4pPr lvl="3">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4pPr>
            <a:lvl5pPr lvl="4">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5pPr>
            <a:lvl6pPr lvl="5">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6pPr>
            <a:lvl7pPr lvl="6">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7pPr>
            <a:lvl8pPr lvl="7">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8pPr>
            <a:lvl9pPr lvl="8">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accent3"/>
              </a:buClr>
              <a:buSzPts val="1800"/>
              <a:buFont typeface="Average"/>
              <a:buChar char="●"/>
              <a:defRPr sz="1800">
                <a:solidFill>
                  <a:schemeClr val="accent3"/>
                </a:solidFill>
                <a:latin typeface="Average"/>
                <a:ea typeface="Average"/>
                <a:cs typeface="Average"/>
                <a:sym typeface="Average"/>
              </a:defRPr>
            </a:lvl1pPr>
            <a:lvl2pPr indent="-317500" lvl="1" marL="9144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2pPr>
            <a:lvl3pPr indent="-317500" lvl="2" marL="13716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3pPr>
            <a:lvl4pPr indent="-317500" lvl="3" marL="18288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4pPr>
            <a:lvl5pPr indent="-317500" lvl="4" marL="22860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5pPr>
            <a:lvl6pPr indent="-317500" lvl="5" marL="27432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6pPr>
            <a:lvl7pPr indent="-317500" lvl="6" marL="32004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7pPr>
            <a:lvl8pPr indent="-317500" lvl="7" marL="36576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8pPr>
            <a:lvl9pPr indent="-317500" lvl="8" marL="41148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9pPr>
          </a:lstStyle>
          <a:p/>
        </p:txBody>
      </p:sp>
      <p:sp>
        <p:nvSpPr>
          <p:cNvPr id="8" name="Google Shape;8;p1"/>
          <p:cNvSpPr txBox="1"/>
          <p:nvPr>
            <p:ph idx="12" type="sldNum"/>
          </p:nvPr>
        </p:nvSpPr>
        <p:spPr>
          <a:xfrm>
            <a:off x="8490250" y="4681009"/>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3"/>
                </a:solidFill>
                <a:latin typeface="Average"/>
                <a:ea typeface="Average"/>
                <a:cs typeface="Average"/>
                <a:sym typeface="Average"/>
              </a:defRPr>
            </a:lvl1pPr>
            <a:lvl2pPr lvl="1" algn="r">
              <a:buNone/>
              <a:defRPr sz="1000">
                <a:solidFill>
                  <a:schemeClr val="accent3"/>
                </a:solidFill>
                <a:latin typeface="Average"/>
                <a:ea typeface="Average"/>
                <a:cs typeface="Average"/>
                <a:sym typeface="Average"/>
              </a:defRPr>
            </a:lvl2pPr>
            <a:lvl3pPr lvl="2" algn="r">
              <a:buNone/>
              <a:defRPr sz="1000">
                <a:solidFill>
                  <a:schemeClr val="accent3"/>
                </a:solidFill>
                <a:latin typeface="Average"/>
                <a:ea typeface="Average"/>
                <a:cs typeface="Average"/>
                <a:sym typeface="Average"/>
              </a:defRPr>
            </a:lvl3pPr>
            <a:lvl4pPr lvl="3" algn="r">
              <a:buNone/>
              <a:defRPr sz="1000">
                <a:solidFill>
                  <a:schemeClr val="accent3"/>
                </a:solidFill>
                <a:latin typeface="Average"/>
                <a:ea typeface="Average"/>
                <a:cs typeface="Average"/>
                <a:sym typeface="Average"/>
              </a:defRPr>
            </a:lvl4pPr>
            <a:lvl5pPr lvl="4" algn="r">
              <a:buNone/>
              <a:defRPr sz="1000">
                <a:solidFill>
                  <a:schemeClr val="accent3"/>
                </a:solidFill>
                <a:latin typeface="Average"/>
                <a:ea typeface="Average"/>
                <a:cs typeface="Average"/>
                <a:sym typeface="Average"/>
              </a:defRPr>
            </a:lvl5pPr>
            <a:lvl6pPr lvl="5" algn="r">
              <a:buNone/>
              <a:defRPr sz="1000">
                <a:solidFill>
                  <a:schemeClr val="accent3"/>
                </a:solidFill>
                <a:latin typeface="Average"/>
                <a:ea typeface="Average"/>
                <a:cs typeface="Average"/>
                <a:sym typeface="Average"/>
              </a:defRPr>
            </a:lvl6pPr>
            <a:lvl7pPr lvl="6" algn="r">
              <a:buNone/>
              <a:defRPr sz="1000">
                <a:solidFill>
                  <a:schemeClr val="accent3"/>
                </a:solidFill>
                <a:latin typeface="Average"/>
                <a:ea typeface="Average"/>
                <a:cs typeface="Average"/>
                <a:sym typeface="Average"/>
              </a:defRPr>
            </a:lvl7pPr>
            <a:lvl8pPr lvl="7" algn="r">
              <a:buNone/>
              <a:defRPr sz="1000">
                <a:solidFill>
                  <a:schemeClr val="accent3"/>
                </a:solidFill>
                <a:latin typeface="Average"/>
                <a:ea typeface="Average"/>
                <a:cs typeface="Average"/>
                <a:sym typeface="Average"/>
              </a:defRPr>
            </a:lvl8pPr>
            <a:lvl9pPr lvl="8" algn="r">
              <a:buNone/>
              <a:defRPr sz="1000">
                <a:solidFill>
                  <a:schemeClr val="accent3"/>
                </a:solidFill>
                <a:latin typeface="Average"/>
                <a:ea typeface="Average"/>
                <a:cs typeface="Average"/>
                <a:sym typeface="Average"/>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1.jpg"/><Relationship Id="rId4" Type="http://schemas.openxmlformats.org/officeDocument/2006/relationships/image" Target="../media/image7.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3"/>
          <p:cNvSpPr txBox="1"/>
          <p:nvPr>
            <p:ph type="ctrTitle"/>
          </p:nvPr>
        </p:nvSpPr>
        <p:spPr>
          <a:xfrm>
            <a:off x="671258" y="1232550"/>
            <a:ext cx="7801500" cy="1339200"/>
          </a:xfrm>
          <a:prstGeom prst="rect">
            <a:avLst/>
          </a:prstGeom>
        </p:spPr>
        <p:txBody>
          <a:bodyPr anchorCtr="0" anchor="b" bIns="91425" lIns="91425" spcFirstLastPara="1" rIns="91425" wrap="square" tIns="91425">
            <a:spAutoFit/>
          </a:bodyPr>
          <a:lstStyle/>
          <a:p>
            <a:pPr indent="0" lvl="0" marL="0" rtl="0" algn="ctr">
              <a:lnSpc>
                <a:spcPct val="150000"/>
              </a:lnSpc>
              <a:spcBef>
                <a:spcPts val="0"/>
              </a:spcBef>
              <a:spcAft>
                <a:spcPts val="0"/>
              </a:spcAft>
              <a:buSzPts val="990"/>
              <a:buNone/>
            </a:pPr>
            <a:r>
              <a:rPr lang="en" sz="3000"/>
              <a:t>263F Project Proposal</a:t>
            </a:r>
            <a:endParaRPr sz="3000"/>
          </a:p>
          <a:p>
            <a:pPr indent="0" lvl="0" marL="0" rtl="0" algn="ctr">
              <a:lnSpc>
                <a:spcPct val="150000"/>
              </a:lnSpc>
              <a:spcBef>
                <a:spcPts val="0"/>
              </a:spcBef>
              <a:spcAft>
                <a:spcPts val="0"/>
              </a:spcAft>
              <a:buSzPts val="990"/>
              <a:buNone/>
            </a:pPr>
            <a:r>
              <a:rPr lang="en" sz="3000"/>
              <a:t>Simulation of Twist-Camber Morphing Wing</a:t>
            </a:r>
            <a:endParaRPr sz="3000"/>
          </a:p>
        </p:txBody>
      </p:sp>
      <p:sp>
        <p:nvSpPr>
          <p:cNvPr id="60" name="Google Shape;60;p13"/>
          <p:cNvSpPr txBox="1"/>
          <p:nvPr>
            <p:ph idx="1" type="subTitle"/>
          </p:nvPr>
        </p:nvSpPr>
        <p:spPr>
          <a:xfrm>
            <a:off x="671250" y="3181113"/>
            <a:ext cx="7801500" cy="461700"/>
          </a:xfrm>
          <a:prstGeom prst="rect">
            <a:avLst/>
          </a:prstGeom>
        </p:spPr>
        <p:txBody>
          <a:bodyPr anchorCtr="0" anchor="t" bIns="91425" lIns="91425" spcFirstLastPara="1" rIns="91425" wrap="square" tIns="91425">
            <a:spAutoFit/>
          </a:bodyPr>
          <a:lstStyle/>
          <a:p>
            <a:pPr indent="0" lvl="0" marL="0" rtl="0" algn="ctr">
              <a:spcBef>
                <a:spcPts val="0"/>
              </a:spcBef>
              <a:spcAft>
                <a:spcPts val="0"/>
              </a:spcAft>
              <a:buNone/>
            </a:pPr>
            <a:r>
              <a:rPr lang="en" sz="1800"/>
              <a:t>Andrew Tran and Matthew Hutchinson</a:t>
            </a:r>
            <a:endParaRPr sz="1800"/>
          </a:p>
        </p:txBody>
      </p:sp>
      <p:sp>
        <p:nvSpPr>
          <p:cNvPr id="61" name="Google Shape;61;p13"/>
          <p:cNvSpPr txBox="1"/>
          <p:nvPr/>
        </p:nvSpPr>
        <p:spPr>
          <a:xfrm>
            <a:off x="158250" y="3642825"/>
            <a:ext cx="8827500" cy="877200"/>
          </a:xfrm>
          <a:prstGeom prst="rect">
            <a:avLst/>
          </a:prstGeom>
          <a:noFill/>
          <a:ln>
            <a:noFill/>
          </a:ln>
        </p:spPr>
        <p:txBody>
          <a:bodyPr anchorCtr="0" anchor="t" bIns="91425" lIns="91425" spcFirstLastPara="1" rIns="91425" wrap="square" tIns="91425">
            <a:spAutoFit/>
          </a:bodyPr>
          <a:lstStyle/>
          <a:p>
            <a:pPr indent="0" lvl="0" marL="0" rtl="0" algn="ctr">
              <a:lnSpc>
                <a:spcPct val="150000"/>
              </a:lnSpc>
              <a:spcBef>
                <a:spcPts val="0"/>
              </a:spcBef>
              <a:spcAft>
                <a:spcPts val="0"/>
              </a:spcAft>
              <a:buNone/>
            </a:pPr>
            <a:r>
              <a:rPr lang="en" sz="1800">
                <a:solidFill>
                  <a:schemeClr val="dk1"/>
                </a:solidFill>
                <a:latin typeface="Average"/>
                <a:ea typeface="Average"/>
                <a:cs typeface="Average"/>
                <a:sym typeface="Average"/>
              </a:rPr>
              <a:t>Birds continuously adapt wing shape for efficiency and control.</a:t>
            </a:r>
            <a:endParaRPr sz="1800">
              <a:solidFill>
                <a:schemeClr val="dk1"/>
              </a:solidFill>
              <a:latin typeface="Average"/>
              <a:ea typeface="Average"/>
              <a:cs typeface="Average"/>
              <a:sym typeface="Average"/>
            </a:endParaRPr>
          </a:p>
          <a:p>
            <a:pPr indent="0" lvl="0" marL="0" rtl="0" algn="ctr">
              <a:lnSpc>
                <a:spcPct val="150000"/>
              </a:lnSpc>
              <a:spcBef>
                <a:spcPts val="0"/>
              </a:spcBef>
              <a:spcAft>
                <a:spcPts val="0"/>
              </a:spcAft>
              <a:buNone/>
            </a:pPr>
            <a:r>
              <a:rPr lang="en" sz="1800">
                <a:solidFill>
                  <a:schemeClr val="dk1"/>
                </a:solidFill>
                <a:latin typeface="Average"/>
                <a:ea typeface="Average"/>
                <a:cs typeface="Average"/>
                <a:sym typeface="Average"/>
              </a:rPr>
              <a:t>We aim to simulate flexible, continuous wing morphing inspired by nature.</a:t>
            </a:r>
            <a:endParaRPr sz="1800">
              <a:solidFill>
                <a:schemeClr val="dk1"/>
              </a:solidFill>
              <a:latin typeface="Average"/>
              <a:ea typeface="Average"/>
              <a:cs typeface="Average"/>
              <a:sym typeface="Average"/>
            </a:endParaRPr>
          </a:p>
        </p:txBody>
      </p:sp>
      <p:pic>
        <p:nvPicPr>
          <p:cNvPr id="62" name="Google Shape;62;p13"/>
          <p:cNvPicPr preferRelativeResize="0"/>
          <p:nvPr/>
        </p:nvPicPr>
        <p:blipFill rotWithShape="1">
          <a:blip r:embed="rId3">
            <a:alphaModFix/>
          </a:blip>
          <a:srcRect b="0" l="10978" r="23980" t="0"/>
          <a:stretch/>
        </p:blipFill>
        <p:spPr>
          <a:xfrm>
            <a:off x="671250" y="166100"/>
            <a:ext cx="1987625" cy="1718950"/>
          </a:xfrm>
          <a:prstGeom prst="rect">
            <a:avLst/>
          </a:prstGeom>
          <a:noFill/>
          <a:ln>
            <a:noFill/>
          </a:ln>
        </p:spPr>
      </p:pic>
      <p:pic>
        <p:nvPicPr>
          <p:cNvPr id="63" name="Google Shape;63;p13"/>
          <p:cNvPicPr preferRelativeResize="0"/>
          <p:nvPr/>
        </p:nvPicPr>
        <p:blipFill rotWithShape="1">
          <a:blip r:embed="rId4">
            <a:alphaModFix/>
          </a:blip>
          <a:srcRect b="0" l="16228" r="9872" t="0"/>
          <a:stretch/>
        </p:blipFill>
        <p:spPr>
          <a:xfrm>
            <a:off x="6485122" y="129624"/>
            <a:ext cx="1987628" cy="179189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2069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Limitations of Fixed Wings in Conventional Aircraft</a:t>
            </a:r>
            <a:endParaRPr/>
          </a:p>
        </p:txBody>
      </p:sp>
      <p:sp>
        <p:nvSpPr>
          <p:cNvPr id="69" name="Google Shape;69;p14"/>
          <p:cNvSpPr txBox="1"/>
          <p:nvPr>
            <p:ph idx="1" type="body"/>
          </p:nvPr>
        </p:nvSpPr>
        <p:spPr>
          <a:xfrm>
            <a:off x="155850" y="2916450"/>
            <a:ext cx="4311600" cy="2134800"/>
          </a:xfrm>
          <a:prstGeom prst="rect">
            <a:avLst/>
          </a:prstGeom>
        </p:spPr>
        <p:txBody>
          <a:bodyPr anchorCtr="0" anchor="t" bIns="91425" lIns="91425" spcFirstLastPara="1" rIns="91425" wrap="square" tIns="91425">
            <a:spAutoFit/>
          </a:bodyPr>
          <a:lstStyle/>
          <a:p>
            <a:pPr indent="-317500" lvl="0" marL="457200" rtl="0" algn="l">
              <a:spcBef>
                <a:spcPts val="0"/>
              </a:spcBef>
              <a:spcAft>
                <a:spcPts val="0"/>
              </a:spcAft>
              <a:buSzPts val="1400"/>
              <a:buChar char="●"/>
            </a:pPr>
            <a:r>
              <a:rPr lang="en"/>
              <a:t>Hinged flaps, ailerons, and rudders introduce surface discontinuities</a:t>
            </a:r>
            <a:endParaRPr/>
          </a:p>
          <a:p>
            <a:pPr indent="-317500" lvl="0" marL="457200" rtl="0" algn="l">
              <a:spcBef>
                <a:spcPts val="0"/>
              </a:spcBef>
              <a:spcAft>
                <a:spcPts val="0"/>
              </a:spcAft>
              <a:buSzPts val="1400"/>
              <a:buChar char="●"/>
            </a:pPr>
            <a:r>
              <a:rPr lang="en"/>
              <a:t>Flow separation during dynamic maneuvers reduces lift efficiency</a:t>
            </a:r>
            <a:endParaRPr/>
          </a:p>
          <a:p>
            <a:pPr indent="-317500" lvl="0" marL="457200" rtl="0" algn="l">
              <a:spcBef>
                <a:spcPts val="0"/>
              </a:spcBef>
              <a:spcAft>
                <a:spcPts val="0"/>
              </a:spcAft>
              <a:buSzPts val="1400"/>
              <a:buChar char="●"/>
            </a:pPr>
            <a:r>
              <a:rPr lang="en"/>
              <a:t>High actuator count adds weight and complexity</a:t>
            </a:r>
            <a:endParaRPr/>
          </a:p>
          <a:p>
            <a:pPr indent="-317500" lvl="0" marL="457200" rtl="0" algn="l">
              <a:spcBef>
                <a:spcPts val="0"/>
              </a:spcBef>
              <a:spcAft>
                <a:spcPts val="0"/>
              </a:spcAft>
              <a:buSzPts val="1400"/>
              <a:buChar char="●"/>
            </a:pPr>
            <a:r>
              <a:rPr lang="en"/>
              <a:t>No passive adaptation to gusts or turbulence</a:t>
            </a:r>
            <a:endParaRPr/>
          </a:p>
          <a:p>
            <a:pPr indent="-317500" lvl="0" marL="457200" rtl="0" algn="l">
              <a:spcBef>
                <a:spcPts val="0"/>
              </a:spcBef>
              <a:spcAft>
                <a:spcPts val="0"/>
              </a:spcAft>
              <a:buSzPts val="1400"/>
              <a:buChar char="●"/>
            </a:pPr>
            <a:r>
              <a:rPr lang="en"/>
              <a:t>Discrete control surfaces = limited spanwise adaptability</a:t>
            </a:r>
            <a:endParaRPr/>
          </a:p>
        </p:txBody>
      </p:sp>
      <p:sp>
        <p:nvSpPr>
          <p:cNvPr id="70" name="Google Shape;70;p14"/>
          <p:cNvSpPr txBox="1"/>
          <p:nvPr>
            <p:ph idx="2" type="body"/>
          </p:nvPr>
        </p:nvSpPr>
        <p:spPr>
          <a:xfrm>
            <a:off x="4676550" y="2916450"/>
            <a:ext cx="4311600" cy="2134800"/>
          </a:xfrm>
          <a:prstGeom prst="rect">
            <a:avLst/>
          </a:prstGeom>
        </p:spPr>
        <p:txBody>
          <a:bodyPr anchorCtr="0" anchor="t" bIns="91425" lIns="91425" spcFirstLastPara="1" rIns="91425" wrap="square" tIns="91425">
            <a:spAutoFit/>
          </a:bodyPr>
          <a:lstStyle/>
          <a:p>
            <a:pPr indent="-317500" lvl="0" marL="457200" rtl="0" algn="l">
              <a:spcBef>
                <a:spcPts val="0"/>
              </a:spcBef>
              <a:spcAft>
                <a:spcPts val="0"/>
              </a:spcAft>
              <a:buSzPts val="1400"/>
              <a:buChar char="●"/>
            </a:pPr>
            <a:r>
              <a:rPr lang="en"/>
              <a:t>Smooth, continuous shape change maintains clean airflow</a:t>
            </a:r>
            <a:endParaRPr/>
          </a:p>
          <a:p>
            <a:pPr indent="-317500" lvl="0" marL="457200" rtl="0" algn="l">
              <a:spcBef>
                <a:spcPts val="0"/>
              </a:spcBef>
              <a:spcAft>
                <a:spcPts val="0"/>
              </a:spcAft>
              <a:buSzPts val="1400"/>
              <a:buChar char="●"/>
            </a:pPr>
            <a:r>
              <a:rPr lang="en"/>
              <a:t>Twist and camber adjust across entire wing span</a:t>
            </a:r>
            <a:endParaRPr/>
          </a:p>
          <a:p>
            <a:pPr indent="-317500" lvl="0" marL="457200" rtl="0" algn="l">
              <a:spcBef>
                <a:spcPts val="0"/>
              </a:spcBef>
              <a:spcAft>
                <a:spcPts val="0"/>
              </a:spcAft>
              <a:buSzPts val="1400"/>
              <a:buChar char="●"/>
            </a:pPr>
            <a:r>
              <a:rPr lang="en"/>
              <a:t>Lower mechanical complexity with fewer actuators</a:t>
            </a:r>
            <a:endParaRPr/>
          </a:p>
          <a:p>
            <a:pPr indent="-317500" lvl="0" marL="457200" rtl="0" algn="l">
              <a:spcBef>
                <a:spcPts val="0"/>
              </a:spcBef>
              <a:spcAft>
                <a:spcPts val="0"/>
              </a:spcAft>
              <a:buSzPts val="1400"/>
              <a:buChar char="●"/>
            </a:pPr>
            <a:r>
              <a:rPr lang="en"/>
              <a:t>Passive compliance enables instant gust rejection</a:t>
            </a:r>
            <a:endParaRPr/>
          </a:p>
          <a:p>
            <a:pPr indent="-317500" lvl="0" marL="457200" rtl="0" algn="l">
              <a:spcBef>
                <a:spcPts val="0"/>
              </a:spcBef>
              <a:spcAft>
                <a:spcPts val="0"/>
              </a:spcAft>
              <a:buSzPts val="1400"/>
              <a:buChar char="●"/>
            </a:pPr>
            <a:r>
              <a:rPr lang="en"/>
              <a:t>Birds roll, pitch, and yaw via shape alone; no separate control surfaces</a:t>
            </a:r>
            <a:endParaRPr/>
          </a:p>
        </p:txBody>
      </p:sp>
      <p:pic>
        <p:nvPicPr>
          <p:cNvPr id="71" name="Google Shape;71;p14"/>
          <p:cNvPicPr preferRelativeResize="0"/>
          <p:nvPr/>
        </p:nvPicPr>
        <p:blipFill>
          <a:blip r:embed="rId3">
            <a:alphaModFix/>
          </a:blip>
          <a:stretch>
            <a:fillRect/>
          </a:stretch>
        </p:blipFill>
        <p:spPr>
          <a:xfrm>
            <a:off x="1225687" y="887625"/>
            <a:ext cx="2171922" cy="1920800"/>
          </a:xfrm>
          <a:prstGeom prst="rect">
            <a:avLst/>
          </a:prstGeom>
          <a:noFill/>
          <a:ln>
            <a:noFill/>
          </a:ln>
        </p:spPr>
      </p:pic>
      <p:pic>
        <p:nvPicPr>
          <p:cNvPr id="72" name="Google Shape;72;p14"/>
          <p:cNvPicPr preferRelativeResize="0"/>
          <p:nvPr/>
        </p:nvPicPr>
        <p:blipFill rotWithShape="1">
          <a:blip r:embed="rId4">
            <a:alphaModFix/>
          </a:blip>
          <a:srcRect b="0" l="5223" r="3293" t="65769"/>
          <a:stretch/>
        </p:blipFill>
        <p:spPr>
          <a:xfrm>
            <a:off x="4930900" y="779597"/>
            <a:ext cx="3946675" cy="1804511"/>
          </a:xfrm>
          <a:prstGeom prst="rect">
            <a:avLst/>
          </a:prstGeom>
          <a:noFill/>
          <a:ln>
            <a:noFill/>
          </a:ln>
        </p:spPr>
      </p:pic>
      <p:sp>
        <p:nvSpPr>
          <p:cNvPr id="73" name="Google Shape;73;p14"/>
          <p:cNvSpPr txBox="1"/>
          <p:nvPr/>
        </p:nvSpPr>
        <p:spPr>
          <a:xfrm>
            <a:off x="4930900" y="2584100"/>
            <a:ext cx="2029800" cy="338700"/>
          </a:xfrm>
          <a:prstGeom prst="rect">
            <a:avLst/>
          </a:prstGeom>
          <a:solidFill>
            <a:schemeClr val="dk1"/>
          </a:solid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en" sz="1000">
                <a:latin typeface="Helvetica Neue"/>
                <a:ea typeface="Helvetica Neue"/>
                <a:cs typeface="Helvetica Neue"/>
                <a:sym typeface="Helvetica Neue"/>
              </a:rPr>
              <a:t>Two main strategies for rolling</a:t>
            </a:r>
            <a:endParaRPr sz="1000">
              <a:latin typeface="Average"/>
              <a:ea typeface="Average"/>
              <a:cs typeface="Average"/>
              <a:sym typeface="Average"/>
            </a:endParaRPr>
          </a:p>
        </p:txBody>
      </p:sp>
      <p:cxnSp>
        <p:nvCxnSpPr>
          <p:cNvPr id="74" name="Google Shape;74;p14"/>
          <p:cNvCxnSpPr/>
          <p:nvPr/>
        </p:nvCxnSpPr>
        <p:spPr>
          <a:xfrm>
            <a:off x="6997338" y="779550"/>
            <a:ext cx="0" cy="1804500"/>
          </a:xfrm>
          <a:prstGeom prst="straightConnector1">
            <a:avLst/>
          </a:prstGeom>
          <a:noFill/>
          <a:ln cap="flat" cmpd="sng" w="71600">
            <a:solidFill>
              <a:srgbClr val="0E0E0E"/>
            </a:solidFill>
            <a:prstDash val="solid"/>
            <a:round/>
            <a:headEnd len="med" w="med" type="none"/>
            <a:tailEnd len="med" w="med" type="none"/>
          </a:ln>
        </p:spPr>
      </p:cxnSp>
      <p:sp>
        <p:nvSpPr>
          <p:cNvPr id="75" name="Google Shape;75;p14"/>
          <p:cNvSpPr txBox="1"/>
          <p:nvPr/>
        </p:nvSpPr>
        <p:spPr>
          <a:xfrm>
            <a:off x="7031975" y="2584100"/>
            <a:ext cx="1845600" cy="338700"/>
          </a:xfrm>
          <a:prstGeom prst="rect">
            <a:avLst/>
          </a:prstGeom>
          <a:solidFill>
            <a:schemeClr val="dk1"/>
          </a:solid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lang="en" sz="1000">
                <a:latin typeface="Helvetica Neue"/>
                <a:ea typeface="Helvetica Neue"/>
                <a:cs typeface="Helvetica Neue"/>
                <a:sym typeface="Helvetica Neue"/>
              </a:rPr>
              <a:t>Turning</a:t>
            </a:r>
            <a:endParaRPr sz="1000">
              <a:latin typeface="Average"/>
              <a:ea typeface="Average"/>
              <a:cs typeface="Average"/>
              <a:sym typeface="Average"/>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Twist and Camber Matter</a:t>
            </a:r>
            <a:endParaRPr/>
          </a:p>
        </p:txBody>
      </p:sp>
      <p:sp>
        <p:nvSpPr>
          <p:cNvPr id="81" name="Google Shape;81;p15"/>
          <p:cNvSpPr txBox="1"/>
          <p:nvPr>
            <p:ph idx="1" type="body"/>
          </p:nvPr>
        </p:nvSpPr>
        <p:spPr>
          <a:xfrm>
            <a:off x="311700" y="1152475"/>
            <a:ext cx="39780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
              <a:t>Twisting morphing</a:t>
            </a:r>
            <a:endParaRPr/>
          </a:p>
          <a:p>
            <a:pPr indent="-317500" lvl="1" marL="914400" rtl="0" algn="l">
              <a:spcBef>
                <a:spcPts val="0"/>
              </a:spcBef>
              <a:spcAft>
                <a:spcPts val="0"/>
              </a:spcAft>
              <a:buSzPts val="1400"/>
              <a:buChar char="○"/>
            </a:pPr>
            <a:r>
              <a:rPr lang="en"/>
              <a:t>Wing twists along span </a:t>
            </a:r>
            <a:endParaRPr/>
          </a:p>
          <a:p>
            <a:pPr indent="-317500" lvl="1" marL="914400" rtl="0" algn="l">
              <a:spcBef>
                <a:spcPts val="0"/>
              </a:spcBef>
              <a:spcAft>
                <a:spcPts val="0"/>
              </a:spcAft>
              <a:buSzPts val="1400"/>
              <a:buChar char="○"/>
            </a:pPr>
            <a:r>
              <a:rPr lang="en"/>
              <a:t>Enables roll control and passive gust rejection</a:t>
            </a:r>
            <a:endParaRPr/>
          </a:p>
          <a:p>
            <a:pPr indent="-317500" lvl="1" marL="914400" rtl="0" algn="l">
              <a:spcBef>
                <a:spcPts val="0"/>
              </a:spcBef>
              <a:spcAft>
                <a:spcPts val="0"/>
              </a:spcAft>
              <a:buSzPts val="1400"/>
              <a:buChar char="○"/>
            </a:pPr>
            <a:r>
              <a:rPr lang="en"/>
              <a:t>Use torsional rod</a:t>
            </a:r>
            <a:endParaRPr/>
          </a:p>
          <a:p>
            <a:pPr indent="-342900" lvl="0" marL="457200" rtl="0" algn="l">
              <a:spcBef>
                <a:spcPts val="2000"/>
              </a:spcBef>
              <a:spcAft>
                <a:spcPts val="0"/>
              </a:spcAft>
              <a:buSzPts val="1800"/>
              <a:buChar char="●"/>
            </a:pPr>
            <a:r>
              <a:rPr lang="en"/>
              <a:t>Camber morphing</a:t>
            </a:r>
            <a:endParaRPr/>
          </a:p>
          <a:p>
            <a:pPr indent="-317500" lvl="1" marL="914400" rtl="0" algn="l">
              <a:spcBef>
                <a:spcPts val="0"/>
              </a:spcBef>
              <a:spcAft>
                <a:spcPts val="0"/>
              </a:spcAft>
              <a:buSzPts val="1400"/>
              <a:buChar char="○"/>
            </a:pPr>
            <a:r>
              <a:rPr lang="en"/>
              <a:t>Wing curvature changes </a:t>
            </a:r>
            <a:endParaRPr/>
          </a:p>
          <a:p>
            <a:pPr indent="-317500" lvl="1" marL="914400" rtl="0" algn="l">
              <a:spcBef>
                <a:spcPts val="0"/>
              </a:spcBef>
              <a:spcAft>
                <a:spcPts val="0"/>
              </a:spcAft>
              <a:buSzPts val="1400"/>
              <a:buChar char="○"/>
            </a:pPr>
            <a:r>
              <a:rPr lang="en"/>
              <a:t>Adjust lift coefficient dynamically </a:t>
            </a:r>
            <a:endParaRPr/>
          </a:p>
          <a:p>
            <a:pPr indent="-317500" lvl="1" marL="914400" rtl="0" algn="l">
              <a:spcBef>
                <a:spcPts val="0"/>
              </a:spcBef>
              <a:spcAft>
                <a:spcPts val="0"/>
              </a:spcAft>
              <a:buSzPts val="1400"/>
              <a:buChar char="○"/>
            </a:pPr>
            <a:r>
              <a:rPr lang="en"/>
              <a:t>Use beam bending</a:t>
            </a:r>
            <a:endParaRPr/>
          </a:p>
          <a:p>
            <a:pPr indent="0" lvl="0" marL="0" rtl="0" algn="l">
              <a:spcBef>
                <a:spcPts val="0"/>
              </a:spcBef>
              <a:spcAft>
                <a:spcPts val="0"/>
              </a:spcAft>
              <a:buNone/>
            </a:pPr>
            <a:r>
              <a:t/>
            </a:r>
            <a:endParaRPr/>
          </a:p>
          <a:p>
            <a:pPr indent="-342900" lvl="0" marL="457200" rtl="0" algn="l">
              <a:spcBef>
                <a:spcPts val="0"/>
              </a:spcBef>
              <a:spcAft>
                <a:spcPts val="0"/>
              </a:spcAft>
              <a:buSzPts val="1800"/>
              <a:buChar char="●"/>
            </a:pPr>
            <a:r>
              <a:rPr lang="en"/>
              <a:t>Birds adjust both continuously to stay agile and efficient</a:t>
            </a:r>
            <a:endParaRPr/>
          </a:p>
        </p:txBody>
      </p:sp>
      <p:pic>
        <p:nvPicPr>
          <p:cNvPr id="82" name="Google Shape;82;p15" title="Screenshot 2025-11-03 at 12.11.35 AM.png"/>
          <p:cNvPicPr preferRelativeResize="0"/>
          <p:nvPr/>
        </p:nvPicPr>
        <p:blipFill rotWithShape="1">
          <a:blip r:embed="rId3">
            <a:alphaModFix/>
          </a:blip>
          <a:srcRect b="26354" l="0" r="0" t="16476"/>
          <a:stretch/>
        </p:blipFill>
        <p:spPr>
          <a:xfrm>
            <a:off x="4739975" y="2489463"/>
            <a:ext cx="4081623" cy="1099487"/>
          </a:xfrm>
          <a:prstGeom prst="rect">
            <a:avLst/>
          </a:prstGeom>
          <a:noFill/>
          <a:ln>
            <a:noFill/>
          </a:ln>
        </p:spPr>
      </p:pic>
      <p:pic>
        <p:nvPicPr>
          <p:cNvPr id="83" name="Google Shape;83;p15" title="Screenshot 2025-11-03 at 12.13.16 AM.png"/>
          <p:cNvPicPr preferRelativeResize="0"/>
          <p:nvPr/>
        </p:nvPicPr>
        <p:blipFill>
          <a:blip r:embed="rId4">
            <a:alphaModFix/>
          </a:blip>
          <a:stretch>
            <a:fillRect/>
          </a:stretch>
        </p:blipFill>
        <p:spPr>
          <a:xfrm>
            <a:off x="4739975" y="1091550"/>
            <a:ext cx="4175750" cy="1167275"/>
          </a:xfrm>
          <a:prstGeom prst="rect">
            <a:avLst/>
          </a:prstGeom>
          <a:noFill/>
          <a:ln>
            <a:noFill/>
          </a:ln>
        </p:spPr>
      </p:pic>
      <p:pic>
        <p:nvPicPr>
          <p:cNvPr id="84" name="Google Shape;84;p15"/>
          <p:cNvPicPr preferRelativeResize="0"/>
          <p:nvPr/>
        </p:nvPicPr>
        <p:blipFill>
          <a:blip r:embed="rId5">
            <a:alphaModFix/>
          </a:blip>
          <a:stretch>
            <a:fillRect/>
          </a:stretch>
        </p:blipFill>
        <p:spPr>
          <a:xfrm>
            <a:off x="5659003" y="3819588"/>
            <a:ext cx="2857475" cy="7492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Simulation Plan</a:t>
            </a:r>
            <a:endParaRPr/>
          </a:p>
        </p:txBody>
      </p:sp>
      <p:sp>
        <p:nvSpPr>
          <p:cNvPr id="90" name="Google Shape;90;p16"/>
          <p:cNvSpPr txBox="1"/>
          <p:nvPr>
            <p:ph idx="1" type="body"/>
          </p:nvPr>
        </p:nvSpPr>
        <p:spPr>
          <a:xfrm>
            <a:off x="311700" y="1152475"/>
            <a:ext cx="5145000" cy="3856800"/>
          </a:xfrm>
          <a:prstGeom prst="rect">
            <a:avLst/>
          </a:prstGeom>
        </p:spPr>
        <p:txBody>
          <a:bodyPr anchorCtr="0" anchor="t" bIns="91425" lIns="91425" spcFirstLastPara="1" rIns="91425" wrap="square" tIns="91425">
            <a:normAutofit fontScale="77500"/>
          </a:bodyPr>
          <a:lstStyle/>
          <a:p>
            <a:pPr indent="0" lvl="0" marL="0" rtl="0" algn="l">
              <a:lnSpc>
                <a:spcPct val="115000"/>
              </a:lnSpc>
              <a:spcBef>
                <a:spcPts val="0"/>
              </a:spcBef>
              <a:spcAft>
                <a:spcPts val="0"/>
              </a:spcAft>
              <a:buNone/>
            </a:pPr>
            <a:r>
              <a:rPr lang="en"/>
              <a:t>Model</a:t>
            </a:r>
            <a:endParaRPr/>
          </a:p>
          <a:p>
            <a:pPr indent="-317182" lvl="0" marL="457200" rtl="0" algn="l">
              <a:lnSpc>
                <a:spcPct val="115000"/>
              </a:lnSpc>
              <a:spcBef>
                <a:spcPts val="0"/>
              </a:spcBef>
              <a:spcAft>
                <a:spcPts val="0"/>
              </a:spcAft>
              <a:buSzPct val="100000"/>
              <a:buChar char="●"/>
            </a:pPr>
            <a:r>
              <a:rPr lang="en"/>
              <a:t>2D elastic beam (discrete elastic rod or mass-spring model)</a:t>
            </a:r>
            <a:endParaRPr/>
          </a:p>
          <a:p>
            <a:pPr indent="-317182" lvl="0" marL="457200" rtl="0" algn="l">
              <a:lnSpc>
                <a:spcPct val="115000"/>
              </a:lnSpc>
              <a:spcBef>
                <a:spcPts val="0"/>
              </a:spcBef>
              <a:spcAft>
                <a:spcPts val="0"/>
              </a:spcAft>
              <a:buSzPct val="100000"/>
              <a:buChar char="●"/>
            </a:pPr>
            <a:r>
              <a:rPr lang="en"/>
              <a:t>Simulates deformation under applied torque and constraint</a:t>
            </a:r>
            <a:endParaRPr/>
          </a:p>
          <a:p>
            <a:pPr indent="0" lvl="0" marL="0" rtl="0" algn="l">
              <a:lnSpc>
                <a:spcPct val="115000"/>
              </a:lnSpc>
              <a:spcBef>
                <a:spcPts val="0"/>
              </a:spcBef>
              <a:spcAft>
                <a:spcPts val="0"/>
              </a:spcAft>
              <a:buNone/>
            </a:pPr>
            <a:r>
              <a:rPr lang="en"/>
              <a:t>Inputs</a:t>
            </a:r>
            <a:endParaRPr/>
          </a:p>
          <a:p>
            <a:pPr indent="-317182" lvl="0" marL="457200" rtl="0" algn="l">
              <a:lnSpc>
                <a:spcPct val="115000"/>
              </a:lnSpc>
              <a:spcBef>
                <a:spcPts val="0"/>
              </a:spcBef>
              <a:spcAft>
                <a:spcPts val="0"/>
              </a:spcAft>
              <a:buSzPct val="100000"/>
              <a:buChar char="●"/>
            </a:pPr>
            <a:r>
              <a:rPr lang="en"/>
              <a:t>Boundary conditions (e.g., fixed root, free or actuated tip)</a:t>
            </a:r>
            <a:endParaRPr/>
          </a:p>
          <a:p>
            <a:pPr indent="-317182" lvl="0" marL="457200" rtl="0" algn="l">
              <a:lnSpc>
                <a:spcPct val="115000"/>
              </a:lnSpc>
              <a:spcBef>
                <a:spcPts val="0"/>
              </a:spcBef>
              <a:spcAft>
                <a:spcPts val="0"/>
              </a:spcAft>
              <a:buSzPct val="100000"/>
              <a:buChar char="●"/>
            </a:pPr>
            <a:r>
              <a:rPr lang="en"/>
              <a:t>Internal actuation (twisting force, bending moment)</a:t>
            </a:r>
            <a:endParaRPr/>
          </a:p>
          <a:p>
            <a:pPr indent="-317182" lvl="0" marL="457200" rtl="0" algn="l">
              <a:lnSpc>
                <a:spcPct val="115000"/>
              </a:lnSpc>
              <a:spcBef>
                <a:spcPts val="0"/>
              </a:spcBef>
              <a:spcAft>
                <a:spcPts val="0"/>
              </a:spcAft>
              <a:buSzPct val="100000"/>
              <a:buChar char="●"/>
            </a:pPr>
            <a:r>
              <a:rPr lang="en"/>
              <a:t>Variable stiffness (uniform vs. gradient)</a:t>
            </a:r>
            <a:endParaRPr/>
          </a:p>
          <a:p>
            <a:pPr indent="0" lvl="0" marL="0" rtl="0" algn="l">
              <a:lnSpc>
                <a:spcPct val="115000"/>
              </a:lnSpc>
              <a:spcBef>
                <a:spcPts val="0"/>
              </a:spcBef>
              <a:spcAft>
                <a:spcPts val="0"/>
              </a:spcAft>
              <a:buNone/>
            </a:pPr>
            <a:r>
              <a:rPr lang="en"/>
              <a:t>Outputs</a:t>
            </a:r>
            <a:endParaRPr/>
          </a:p>
          <a:p>
            <a:pPr indent="-317182" lvl="0" marL="457200" rtl="0" algn="l">
              <a:lnSpc>
                <a:spcPct val="115000"/>
              </a:lnSpc>
              <a:spcBef>
                <a:spcPts val="0"/>
              </a:spcBef>
              <a:spcAft>
                <a:spcPts val="0"/>
              </a:spcAft>
              <a:buSzPct val="100000"/>
              <a:buChar char="●"/>
            </a:pPr>
            <a:r>
              <a:rPr lang="en"/>
              <a:t>Shape profile (camber and twist deformation)</a:t>
            </a:r>
            <a:endParaRPr/>
          </a:p>
          <a:p>
            <a:pPr indent="-317182" lvl="0" marL="457200" rtl="0" algn="l">
              <a:lnSpc>
                <a:spcPct val="115000"/>
              </a:lnSpc>
              <a:spcBef>
                <a:spcPts val="0"/>
              </a:spcBef>
              <a:spcAft>
                <a:spcPts val="0"/>
              </a:spcAft>
              <a:buSzPct val="100000"/>
              <a:buChar char="●"/>
            </a:pPr>
            <a:r>
              <a:rPr lang="en"/>
              <a:t>Internal moment and strain energy distributions</a:t>
            </a:r>
            <a:endParaRPr/>
          </a:p>
          <a:p>
            <a:pPr indent="-317182" lvl="0" marL="457200" rtl="0" algn="l">
              <a:lnSpc>
                <a:spcPct val="115000"/>
              </a:lnSpc>
              <a:spcBef>
                <a:spcPts val="0"/>
              </a:spcBef>
              <a:spcAft>
                <a:spcPts val="0"/>
              </a:spcAft>
              <a:buSzPct val="100000"/>
              <a:buChar char="●"/>
            </a:pPr>
            <a:r>
              <a:rPr lang="en"/>
              <a:t>Curvature and torsion vs. beam length</a:t>
            </a:r>
            <a:endParaRPr/>
          </a:p>
          <a:p>
            <a:pPr indent="0" lvl="0" marL="0" rtl="0" algn="l">
              <a:lnSpc>
                <a:spcPct val="115000"/>
              </a:lnSpc>
              <a:spcBef>
                <a:spcPts val="0"/>
              </a:spcBef>
              <a:spcAft>
                <a:spcPts val="0"/>
              </a:spcAft>
              <a:buNone/>
            </a:pPr>
            <a:r>
              <a:rPr lang="en"/>
              <a:t>Comparisons</a:t>
            </a:r>
            <a:endParaRPr/>
          </a:p>
          <a:p>
            <a:pPr indent="-317182" lvl="0" marL="457200" rtl="0" algn="l">
              <a:lnSpc>
                <a:spcPct val="115000"/>
              </a:lnSpc>
              <a:spcBef>
                <a:spcPts val="0"/>
              </a:spcBef>
              <a:spcAft>
                <a:spcPts val="0"/>
              </a:spcAft>
              <a:buSzPct val="100000"/>
              <a:buChar char="●"/>
            </a:pPr>
            <a:r>
              <a:rPr lang="en"/>
              <a:t>Baseline vs. twist</a:t>
            </a:r>
            <a:endParaRPr/>
          </a:p>
          <a:p>
            <a:pPr indent="-317182" lvl="0" marL="457200" rtl="0" algn="l">
              <a:lnSpc>
                <a:spcPct val="115000"/>
              </a:lnSpc>
              <a:spcBef>
                <a:spcPts val="0"/>
              </a:spcBef>
              <a:spcAft>
                <a:spcPts val="0"/>
              </a:spcAft>
              <a:buSzPct val="100000"/>
              <a:buChar char="●"/>
            </a:pPr>
            <a:r>
              <a:rPr lang="en"/>
              <a:t>Baseline vs. camber</a:t>
            </a:r>
            <a:endParaRPr/>
          </a:p>
          <a:p>
            <a:pPr indent="-317182" lvl="0" marL="457200" rtl="0" algn="l">
              <a:lnSpc>
                <a:spcPct val="115000"/>
              </a:lnSpc>
              <a:spcBef>
                <a:spcPts val="0"/>
              </a:spcBef>
              <a:spcAft>
                <a:spcPts val="0"/>
              </a:spcAft>
              <a:buSzPct val="100000"/>
              <a:buChar char="●"/>
            </a:pPr>
            <a:r>
              <a:rPr lang="en"/>
              <a:t>Optional: Combined twist-camber coupling</a:t>
            </a:r>
            <a:endParaRPr/>
          </a:p>
        </p:txBody>
      </p:sp>
      <p:pic>
        <p:nvPicPr>
          <p:cNvPr id="91" name="Google Shape;91;p16"/>
          <p:cNvPicPr preferRelativeResize="0"/>
          <p:nvPr/>
        </p:nvPicPr>
        <p:blipFill>
          <a:blip r:embed="rId3">
            <a:alphaModFix/>
          </a:blip>
          <a:stretch>
            <a:fillRect/>
          </a:stretch>
        </p:blipFill>
        <p:spPr>
          <a:xfrm>
            <a:off x="6074252" y="2665150"/>
            <a:ext cx="2115750" cy="2394750"/>
          </a:xfrm>
          <a:prstGeom prst="rect">
            <a:avLst/>
          </a:prstGeom>
          <a:noFill/>
          <a:ln>
            <a:noFill/>
          </a:ln>
        </p:spPr>
      </p:pic>
      <p:pic>
        <p:nvPicPr>
          <p:cNvPr id="92" name="Google Shape;92;p16"/>
          <p:cNvPicPr preferRelativeResize="0"/>
          <p:nvPr/>
        </p:nvPicPr>
        <p:blipFill>
          <a:blip r:embed="rId4">
            <a:alphaModFix/>
          </a:blip>
          <a:stretch>
            <a:fillRect/>
          </a:stretch>
        </p:blipFill>
        <p:spPr>
          <a:xfrm>
            <a:off x="5431975" y="134125"/>
            <a:ext cx="3622200" cy="2642348"/>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late">
  <a:themeElements>
    <a:clrScheme name="Slate">
      <a:dk1>
        <a:srgbClr val="FFFFFF"/>
      </a:dk1>
      <a:lt1>
        <a:srgbClr val="37474F"/>
      </a:lt1>
      <a:dk2>
        <a:srgbClr val="9E9E9E"/>
      </a:dk2>
      <a:lt2>
        <a:srgbClr val="E0E0E0"/>
      </a:lt2>
      <a:accent1>
        <a:srgbClr val="616161"/>
      </a:accent1>
      <a:accent2>
        <a:srgbClr val="78909C"/>
      </a:accent2>
      <a:accent3>
        <a:srgbClr val="CACACA"/>
      </a:accent3>
      <a:accent4>
        <a:srgbClr val="64FFDA"/>
      </a:accent4>
      <a:accent5>
        <a:srgbClr val="FFD966"/>
      </a:accent5>
      <a:accent6>
        <a:srgbClr val="F5F5F5"/>
      </a:accent6>
      <a:hlink>
        <a:srgbClr val="FFD966"/>
      </a:hlink>
      <a:folHlink>
        <a:srgbClr val="FFD96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