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Average"/>
      <p:regular r:id="rId10"/>
    </p:embeddedFont>
    <p:embeddedFont>
      <p:font typeface="Helvetica Neue"/>
      <p:regular r:id="rId11"/>
      <p:bold r:id="rId12"/>
      <p:italic r:id="rId13"/>
      <p:boldItalic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HelveticaNeue-regular.fntdata"/><Relationship Id="rId10" Type="http://schemas.openxmlformats.org/officeDocument/2006/relationships/font" Target="fonts/Average-regular.fntdata"/><Relationship Id="rId13" Type="http://schemas.openxmlformats.org/officeDocument/2006/relationships/font" Target="fonts/HelveticaNeue-italic.fntdata"/><Relationship Id="rId12"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HelveticaNeue-boldItalic.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200">
                <a:solidFill>
                  <a:srgbClr val="0E0E0E"/>
                </a:solidFill>
              </a:rPr>
              <a:t>Birds like falcons and swifts can twist and camber their wings mid-flight, giving them incredible agility and efficiency. We’re drawing inspiration from these mechanisms to simulate similar shape morphing in a flexible, continuous wing structure</a:t>
            </a:r>
            <a:endParaRPr sz="1200">
              <a:solidFill>
                <a:srgbClr val="0E0E0E"/>
              </a:solidFill>
            </a:endParaRPr>
          </a:p>
          <a:p>
            <a:pPr indent="0" lvl="0" marL="0" rtl="0" algn="l">
              <a:spcBef>
                <a:spcPts val="0"/>
              </a:spcBef>
              <a:spcAft>
                <a:spcPts val="0"/>
              </a:spcAft>
              <a:buNone/>
            </a:pPr>
            <a:r>
              <a:t/>
            </a:r>
            <a:endParaRPr sz="1200">
              <a:solidFill>
                <a:srgbClr val="0E0E0E"/>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fb9b0569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fb9b0569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Clr>
                <a:schemeClr val="dk1"/>
              </a:buClr>
              <a:buSzPts val="1100"/>
              <a:buFont typeface="Arial"/>
              <a:buNone/>
            </a:pPr>
            <a:r>
              <a:rPr lang="en" sz="1200">
                <a:solidFill>
                  <a:srgbClr val="0E0E0E"/>
                </a:solidFill>
              </a:rPr>
              <a:t>Conventional aircraft rely on discrete flaps and rudders, which create sharp geometry changes that can cause flow separation and reduce efficiency—especially during dynamic maneuvers. Birds achieve similar control by smoothly twisting and cambering their wings, which reduces drag and enables passive gust rejection.</a:t>
            </a:r>
            <a:endParaRPr sz="1200">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sz="1200">
              <a:solidFill>
                <a:srgbClr val="0E0E0E"/>
              </a:solidFill>
            </a:endParaRPr>
          </a:p>
          <a:p>
            <a:pPr indent="0" lvl="0" marL="139700" rtl="0" algn="l">
              <a:lnSpc>
                <a:spcPct val="115000"/>
              </a:lnSpc>
              <a:spcBef>
                <a:spcPts val="0"/>
              </a:spcBef>
              <a:spcAft>
                <a:spcPts val="0"/>
              </a:spcAft>
              <a:buNone/>
            </a:pPr>
            <a:r>
              <a:rPr lang="en" sz="1200">
                <a:solidFill>
                  <a:srgbClr val="0E0E0E"/>
                </a:solidFill>
              </a:rPr>
              <a:t>For rolling, birds often twist one wing side—pronating and supinating—or fold one wing while extending the other. These strategies allow smooth, continuous control without the need for ailerons or rudders.</a:t>
            </a:r>
            <a:endParaRPr sz="1200">
              <a:solidFill>
                <a:srgbClr val="0E0E0E"/>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faab4c41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faab4c41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 sz="1200">
                <a:solidFill>
                  <a:srgbClr val="0E0E0E"/>
                </a:solidFill>
              </a:rPr>
              <a:t>Camber controls the curvature of the wing and influences lift, while twist lets birds change the angle of attack along the span—essential for roll, stability, and gust adaptation. If we can replicate this in a continuous flexible structure, it could transform how UAVs respond in real-time flight</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fb9b0569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fb9b056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 sz="1200">
                <a:solidFill>
                  <a:srgbClr val="0E0E0E"/>
                </a:solidFill>
              </a:rPr>
              <a:t>We’re modeling the wing as a continuous elastic beam and applying torque and bending to simulate twist and camber deformations. We’ll analyze the resulting shape, curvature, and internal stress to understand how morphing can emerge from structure alone—without hinges or actuators</a:t>
            </a:r>
            <a:endParaRPr sz="1200">
              <a:solidFill>
                <a:srgbClr val="0E0E0E"/>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1232550"/>
            <a:ext cx="7801500" cy="1339200"/>
          </a:xfrm>
          <a:prstGeom prst="rect">
            <a:avLst/>
          </a:prstGeom>
        </p:spPr>
        <p:txBody>
          <a:bodyPr anchorCtr="0" anchor="b" bIns="91425" lIns="91425" spcFirstLastPara="1" rIns="91425" wrap="square" tIns="91425">
            <a:spAutoFit/>
          </a:bodyPr>
          <a:lstStyle/>
          <a:p>
            <a:pPr indent="0" lvl="0" marL="0" rtl="0" algn="ctr">
              <a:lnSpc>
                <a:spcPct val="150000"/>
              </a:lnSpc>
              <a:spcBef>
                <a:spcPts val="0"/>
              </a:spcBef>
              <a:spcAft>
                <a:spcPts val="0"/>
              </a:spcAft>
              <a:buSzPts val="990"/>
              <a:buNone/>
            </a:pPr>
            <a:r>
              <a:rPr lang="en" sz="3000"/>
              <a:t>263F Project Proposal</a:t>
            </a:r>
            <a:endParaRPr sz="3000"/>
          </a:p>
          <a:p>
            <a:pPr indent="0" lvl="0" marL="0" rtl="0" algn="ctr">
              <a:lnSpc>
                <a:spcPct val="150000"/>
              </a:lnSpc>
              <a:spcBef>
                <a:spcPts val="0"/>
              </a:spcBef>
              <a:spcAft>
                <a:spcPts val="0"/>
              </a:spcAft>
              <a:buSzPts val="990"/>
              <a:buNone/>
            </a:pPr>
            <a:r>
              <a:rPr lang="en" sz="3000"/>
              <a:t>Simulation of Twist-Camber Morphing Wing</a:t>
            </a:r>
            <a:endParaRPr sz="3000"/>
          </a:p>
        </p:txBody>
      </p:sp>
      <p:sp>
        <p:nvSpPr>
          <p:cNvPr id="60" name="Google Shape;60;p13"/>
          <p:cNvSpPr txBox="1"/>
          <p:nvPr>
            <p:ph idx="1" type="subTitle"/>
          </p:nvPr>
        </p:nvSpPr>
        <p:spPr>
          <a:xfrm>
            <a:off x="671250" y="3181113"/>
            <a:ext cx="7801500" cy="4617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1800"/>
              <a:t>Andrew Tran and Matthew Hutchinson</a:t>
            </a:r>
            <a:endParaRPr sz="1800"/>
          </a:p>
        </p:txBody>
      </p:sp>
      <p:sp>
        <p:nvSpPr>
          <p:cNvPr id="61" name="Google Shape;61;p13"/>
          <p:cNvSpPr txBox="1"/>
          <p:nvPr/>
        </p:nvSpPr>
        <p:spPr>
          <a:xfrm>
            <a:off x="158250" y="3642825"/>
            <a:ext cx="8827500" cy="877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solidFill>
                  <a:schemeClr val="dk1"/>
                </a:solidFill>
                <a:latin typeface="Average"/>
                <a:ea typeface="Average"/>
                <a:cs typeface="Average"/>
                <a:sym typeface="Average"/>
              </a:rPr>
              <a:t>Birds continuously adapt wing shape for efficiency and control.</a:t>
            </a:r>
            <a:endParaRPr sz="1800">
              <a:solidFill>
                <a:schemeClr val="dk1"/>
              </a:solidFill>
              <a:latin typeface="Average"/>
              <a:ea typeface="Average"/>
              <a:cs typeface="Average"/>
              <a:sym typeface="Average"/>
            </a:endParaRPr>
          </a:p>
          <a:p>
            <a:pPr indent="0" lvl="0" marL="0" rtl="0" algn="ctr">
              <a:lnSpc>
                <a:spcPct val="150000"/>
              </a:lnSpc>
              <a:spcBef>
                <a:spcPts val="0"/>
              </a:spcBef>
              <a:spcAft>
                <a:spcPts val="0"/>
              </a:spcAft>
              <a:buNone/>
            </a:pPr>
            <a:r>
              <a:rPr lang="en" sz="1800">
                <a:solidFill>
                  <a:schemeClr val="dk1"/>
                </a:solidFill>
                <a:latin typeface="Average"/>
                <a:ea typeface="Average"/>
                <a:cs typeface="Average"/>
                <a:sym typeface="Average"/>
              </a:rPr>
              <a:t>We aim to simulate flexible, continuous wing morphing inspired by nature.</a:t>
            </a:r>
            <a:endParaRPr sz="1800">
              <a:solidFill>
                <a:schemeClr val="dk1"/>
              </a:solidFill>
              <a:latin typeface="Average"/>
              <a:ea typeface="Average"/>
              <a:cs typeface="Average"/>
              <a:sym typeface="Average"/>
            </a:endParaRPr>
          </a:p>
        </p:txBody>
      </p:sp>
      <p:pic>
        <p:nvPicPr>
          <p:cNvPr id="62" name="Google Shape;62;p13"/>
          <p:cNvPicPr preferRelativeResize="0"/>
          <p:nvPr/>
        </p:nvPicPr>
        <p:blipFill rotWithShape="1">
          <a:blip r:embed="rId3">
            <a:alphaModFix/>
          </a:blip>
          <a:srcRect b="0" l="10978" r="23980" t="0"/>
          <a:stretch/>
        </p:blipFill>
        <p:spPr>
          <a:xfrm>
            <a:off x="671250" y="166100"/>
            <a:ext cx="1987625" cy="1718950"/>
          </a:xfrm>
          <a:prstGeom prst="rect">
            <a:avLst/>
          </a:prstGeom>
          <a:noFill/>
          <a:ln>
            <a:noFill/>
          </a:ln>
        </p:spPr>
      </p:pic>
      <p:pic>
        <p:nvPicPr>
          <p:cNvPr id="63" name="Google Shape;63;p13"/>
          <p:cNvPicPr preferRelativeResize="0"/>
          <p:nvPr/>
        </p:nvPicPr>
        <p:blipFill rotWithShape="1">
          <a:blip r:embed="rId4">
            <a:alphaModFix/>
          </a:blip>
          <a:srcRect b="0" l="16228" r="9872" t="0"/>
          <a:stretch/>
        </p:blipFill>
        <p:spPr>
          <a:xfrm>
            <a:off x="6485122" y="129624"/>
            <a:ext cx="1987628" cy="1791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206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of Fixed Wings in Conventional Aircraft</a:t>
            </a:r>
            <a:endParaRPr/>
          </a:p>
        </p:txBody>
      </p:sp>
      <p:sp>
        <p:nvSpPr>
          <p:cNvPr id="69" name="Google Shape;69;p14"/>
          <p:cNvSpPr txBox="1"/>
          <p:nvPr>
            <p:ph idx="1" type="body"/>
          </p:nvPr>
        </p:nvSpPr>
        <p:spPr>
          <a:xfrm>
            <a:off x="155850" y="2916450"/>
            <a:ext cx="4311600" cy="21348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Hinged flaps, ailerons, and rudders introduce surface discontinuities</a:t>
            </a:r>
            <a:endParaRPr/>
          </a:p>
          <a:p>
            <a:pPr indent="-317500" lvl="0" marL="457200" rtl="0" algn="l">
              <a:spcBef>
                <a:spcPts val="0"/>
              </a:spcBef>
              <a:spcAft>
                <a:spcPts val="0"/>
              </a:spcAft>
              <a:buSzPts val="1400"/>
              <a:buChar char="●"/>
            </a:pPr>
            <a:r>
              <a:rPr lang="en"/>
              <a:t>Flow separation during dynamic maneuvers reduces lift efficiency</a:t>
            </a:r>
            <a:endParaRPr/>
          </a:p>
          <a:p>
            <a:pPr indent="-317500" lvl="0" marL="457200" rtl="0" algn="l">
              <a:spcBef>
                <a:spcPts val="0"/>
              </a:spcBef>
              <a:spcAft>
                <a:spcPts val="0"/>
              </a:spcAft>
              <a:buSzPts val="1400"/>
              <a:buChar char="●"/>
            </a:pPr>
            <a:r>
              <a:rPr lang="en"/>
              <a:t>High actuator count adds weight and complexity</a:t>
            </a:r>
            <a:endParaRPr/>
          </a:p>
          <a:p>
            <a:pPr indent="-317500" lvl="0" marL="457200" rtl="0" algn="l">
              <a:spcBef>
                <a:spcPts val="0"/>
              </a:spcBef>
              <a:spcAft>
                <a:spcPts val="0"/>
              </a:spcAft>
              <a:buSzPts val="1400"/>
              <a:buChar char="●"/>
            </a:pPr>
            <a:r>
              <a:rPr lang="en"/>
              <a:t>No passive adaptation to gusts or turbulence</a:t>
            </a:r>
            <a:endParaRPr/>
          </a:p>
          <a:p>
            <a:pPr indent="-317500" lvl="0" marL="457200" rtl="0" algn="l">
              <a:spcBef>
                <a:spcPts val="0"/>
              </a:spcBef>
              <a:spcAft>
                <a:spcPts val="0"/>
              </a:spcAft>
              <a:buSzPts val="1400"/>
              <a:buChar char="●"/>
            </a:pPr>
            <a:r>
              <a:rPr lang="en"/>
              <a:t>Discrete control surfaces = limited spanwise adaptability</a:t>
            </a:r>
            <a:endParaRPr/>
          </a:p>
        </p:txBody>
      </p:sp>
      <p:sp>
        <p:nvSpPr>
          <p:cNvPr id="70" name="Google Shape;70;p14"/>
          <p:cNvSpPr txBox="1"/>
          <p:nvPr>
            <p:ph idx="2" type="body"/>
          </p:nvPr>
        </p:nvSpPr>
        <p:spPr>
          <a:xfrm>
            <a:off x="4676550" y="2916450"/>
            <a:ext cx="4311600" cy="21348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Smooth, continuous shape change maintains clean airflow</a:t>
            </a:r>
            <a:endParaRPr/>
          </a:p>
          <a:p>
            <a:pPr indent="-317500" lvl="0" marL="457200" rtl="0" algn="l">
              <a:spcBef>
                <a:spcPts val="0"/>
              </a:spcBef>
              <a:spcAft>
                <a:spcPts val="0"/>
              </a:spcAft>
              <a:buSzPts val="1400"/>
              <a:buChar char="●"/>
            </a:pPr>
            <a:r>
              <a:rPr lang="en"/>
              <a:t>Twist and camber adjust across entire wing span</a:t>
            </a:r>
            <a:endParaRPr/>
          </a:p>
          <a:p>
            <a:pPr indent="-317500" lvl="0" marL="457200" rtl="0" algn="l">
              <a:spcBef>
                <a:spcPts val="0"/>
              </a:spcBef>
              <a:spcAft>
                <a:spcPts val="0"/>
              </a:spcAft>
              <a:buSzPts val="1400"/>
              <a:buChar char="●"/>
            </a:pPr>
            <a:r>
              <a:rPr lang="en"/>
              <a:t>Lower mechanical complexity with fewer actuators</a:t>
            </a:r>
            <a:endParaRPr/>
          </a:p>
          <a:p>
            <a:pPr indent="-317500" lvl="0" marL="457200" rtl="0" algn="l">
              <a:spcBef>
                <a:spcPts val="0"/>
              </a:spcBef>
              <a:spcAft>
                <a:spcPts val="0"/>
              </a:spcAft>
              <a:buSzPts val="1400"/>
              <a:buChar char="●"/>
            </a:pPr>
            <a:r>
              <a:rPr lang="en"/>
              <a:t>Passive compliance enables instant gust rejection</a:t>
            </a:r>
            <a:endParaRPr/>
          </a:p>
          <a:p>
            <a:pPr indent="-317500" lvl="0" marL="457200" rtl="0" algn="l">
              <a:spcBef>
                <a:spcPts val="0"/>
              </a:spcBef>
              <a:spcAft>
                <a:spcPts val="0"/>
              </a:spcAft>
              <a:buSzPts val="1400"/>
              <a:buChar char="●"/>
            </a:pPr>
            <a:r>
              <a:rPr lang="en"/>
              <a:t>Birds roll, pitch, and yaw via shape alone; no separate control surfaces</a:t>
            </a:r>
            <a:endParaRPr/>
          </a:p>
        </p:txBody>
      </p:sp>
      <p:pic>
        <p:nvPicPr>
          <p:cNvPr id="71" name="Google Shape;71;p14"/>
          <p:cNvPicPr preferRelativeResize="0"/>
          <p:nvPr/>
        </p:nvPicPr>
        <p:blipFill>
          <a:blip r:embed="rId3">
            <a:alphaModFix/>
          </a:blip>
          <a:stretch>
            <a:fillRect/>
          </a:stretch>
        </p:blipFill>
        <p:spPr>
          <a:xfrm>
            <a:off x="1225687" y="887625"/>
            <a:ext cx="2171922" cy="1920800"/>
          </a:xfrm>
          <a:prstGeom prst="rect">
            <a:avLst/>
          </a:prstGeom>
          <a:noFill/>
          <a:ln>
            <a:noFill/>
          </a:ln>
        </p:spPr>
      </p:pic>
      <p:pic>
        <p:nvPicPr>
          <p:cNvPr id="72" name="Google Shape;72;p14"/>
          <p:cNvPicPr preferRelativeResize="0"/>
          <p:nvPr/>
        </p:nvPicPr>
        <p:blipFill rotWithShape="1">
          <a:blip r:embed="rId4">
            <a:alphaModFix/>
          </a:blip>
          <a:srcRect b="0" l="5223" r="3293" t="65769"/>
          <a:stretch/>
        </p:blipFill>
        <p:spPr>
          <a:xfrm>
            <a:off x="4930900" y="779597"/>
            <a:ext cx="3946675" cy="1804511"/>
          </a:xfrm>
          <a:prstGeom prst="rect">
            <a:avLst/>
          </a:prstGeom>
          <a:noFill/>
          <a:ln>
            <a:noFill/>
          </a:ln>
        </p:spPr>
      </p:pic>
      <p:sp>
        <p:nvSpPr>
          <p:cNvPr id="73" name="Google Shape;73;p14"/>
          <p:cNvSpPr txBox="1"/>
          <p:nvPr/>
        </p:nvSpPr>
        <p:spPr>
          <a:xfrm>
            <a:off x="4930900" y="2584100"/>
            <a:ext cx="2029800" cy="338700"/>
          </a:xfrm>
          <a:prstGeom prst="rect">
            <a:avLst/>
          </a:prstGeom>
          <a:solidFill>
            <a:schemeClr val="dk1"/>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Two main strategies for rolling</a:t>
            </a:r>
            <a:endParaRPr sz="1000">
              <a:latin typeface="Average"/>
              <a:ea typeface="Average"/>
              <a:cs typeface="Average"/>
              <a:sym typeface="Average"/>
            </a:endParaRPr>
          </a:p>
        </p:txBody>
      </p:sp>
      <p:cxnSp>
        <p:nvCxnSpPr>
          <p:cNvPr id="74" name="Google Shape;74;p14"/>
          <p:cNvCxnSpPr/>
          <p:nvPr/>
        </p:nvCxnSpPr>
        <p:spPr>
          <a:xfrm>
            <a:off x="6997338" y="779550"/>
            <a:ext cx="0" cy="1804500"/>
          </a:xfrm>
          <a:prstGeom prst="straightConnector1">
            <a:avLst/>
          </a:prstGeom>
          <a:noFill/>
          <a:ln cap="flat" cmpd="sng" w="71600">
            <a:solidFill>
              <a:srgbClr val="0E0E0E"/>
            </a:solidFill>
            <a:prstDash val="solid"/>
            <a:round/>
            <a:headEnd len="med" w="med" type="none"/>
            <a:tailEnd len="med" w="med" type="none"/>
          </a:ln>
        </p:spPr>
      </p:cxnSp>
      <p:sp>
        <p:nvSpPr>
          <p:cNvPr id="75" name="Google Shape;75;p14"/>
          <p:cNvSpPr txBox="1"/>
          <p:nvPr/>
        </p:nvSpPr>
        <p:spPr>
          <a:xfrm>
            <a:off x="7031975" y="2584100"/>
            <a:ext cx="1845600" cy="338700"/>
          </a:xfrm>
          <a:prstGeom prst="rect">
            <a:avLst/>
          </a:prstGeom>
          <a:solidFill>
            <a:schemeClr val="dk1"/>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000">
                <a:latin typeface="Helvetica Neue"/>
                <a:ea typeface="Helvetica Neue"/>
                <a:cs typeface="Helvetica Neue"/>
                <a:sym typeface="Helvetica Neue"/>
              </a:rPr>
              <a:t>Turning</a:t>
            </a:r>
            <a:endParaRPr sz="1000">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Twist and Camber Matter</a:t>
            </a:r>
            <a:endParaRPr/>
          </a:p>
        </p:txBody>
      </p:sp>
      <p:sp>
        <p:nvSpPr>
          <p:cNvPr id="81" name="Google Shape;81;p15"/>
          <p:cNvSpPr txBox="1"/>
          <p:nvPr>
            <p:ph idx="1" type="body"/>
          </p:nvPr>
        </p:nvSpPr>
        <p:spPr>
          <a:xfrm>
            <a:off x="311700" y="1152475"/>
            <a:ext cx="39780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Twisting morphing</a:t>
            </a:r>
            <a:endParaRPr/>
          </a:p>
          <a:p>
            <a:pPr indent="-317500" lvl="1" marL="914400" rtl="0" algn="l">
              <a:spcBef>
                <a:spcPts val="0"/>
              </a:spcBef>
              <a:spcAft>
                <a:spcPts val="0"/>
              </a:spcAft>
              <a:buSzPts val="1400"/>
              <a:buChar char="○"/>
            </a:pPr>
            <a:r>
              <a:rPr lang="en"/>
              <a:t>Wing twists along span </a:t>
            </a:r>
            <a:endParaRPr/>
          </a:p>
          <a:p>
            <a:pPr indent="-317500" lvl="1" marL="914400" rtl="0" algn="l">
              <a:spcBef>
                <a:spcPts val="0"/>
              </a:spcBef>
              <a:spcAft>
                <a:spcPts val="0"/>
              </a:spcAft>
              <a:buSzPts val="1400"/>
              <a:buChar char="○"/>
            </a:pPr>
            <a:r>
              <a:rPr lang="en"/>
              <a:t>Enables roll control and passive gust rejection</a:t>
            </a:r>
            <a:endParaRPr/>
          </a:p>
          <a:p>
            <a:pPr indent="-317500" lvl="1" marL="914400" rtl="0" algn="l">
              <a:spcBef>
                <a:spcPts val="0"/>
              </a:spcBef>
              <a:spcAft>
                <a:spcPts val="0"/>
              </a:spcAft>
              <a:buSzPts val="1400"/>
              <a:buChar char="○"/>
            </a:pPr>
            <a:r>
              <a:rPr lang="en"/>
              <a:t>Use torsional rod</a:t>
            </a:r>
            <a:endParaRPr/>
          </a:p>
          <a:p>
            <a:pPr indent="-342900" lvl="0" marL="457200" rtl="0" algn="l">
              <a:spcBef>
                <a:spcPts val="2000"/>
              </a:spcBef>
              <a:spcAft>
                <a:spcPts val="0"/>
              </a:spcAft>
              <a:buSzPts val="1800"/>
              <a:buChar char="●"/>
            </a:pPr>
            <a:r>
              <a:rPr lang="en"/>
              <a:t>Camber morphing</a:t>
            </a:r>
            <a:endParaRPr/>
          </a:p>
          <a:p>
            <a:pPr indent="-317500" lvl="1" marL="914400" rtl="0" algn="l">
              <a:spcBef>
                <a:spcPts val="0"/>
              </a:spcBef>
              <a:spcAft>
                <a:spcPts val="0"/>
              </a:spcAft>
              <a:buSzPts val="1400"/>
              <a:buChar char="○"/>
            </a:pPr>
            <a:r>
              <a:rPr lang="en"/>
              <a:t>Wing curvature changes </a:t>
            </a:r>
            <a:endParaRPr/>
          </a:p>
          <a:p>
            <a:pPr indent="-317500" lvl="1" marL="914400" rtl="0" algn="l">
              <a:spcBef>
                <a:spcPts val="0"/>
              </a:spcBef>
              <a:spcAft>
                <a:spcPts val="0"/>
              </a:spcAft>
              <a:buSzPts val="1400"/>
              <a:buChar char="○"/>
            </a:pPr>
            <a:r>
              <a:rPr lang="en"/>
              <a:t>Adjust lift coefficient dynamically </a:t>
            </a:r>
            <a:endParaRPr/>
          </a:p>
          <a:p>
            <a:pPr indent="-317500" lvl="1" marL="914400" rtl="0" algn="l">
              <a:spcBef>
                <a:spcPts val="0"/>
              </a:spcBef>
              <a:spcAft>
                <a:spcPts val="0"/>
              </a:spcAft>
              <a:buSzPts val="1400"/>
              <a:buChar char="○"/>
            </a:pPr>
            <a:r>
              <a:rPr lang="en"/>
              <a:t>Use beam bending</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Birds adjust both continuously to stay agile and efficient</a:t>
            </a:r>
            <a:endParaRPr/>
          </a:p>
        </p:txBody>
      </p:sp>
      <p:pic>
        <p:nvPicPr>
          <p:cNvPr id="82" name="Google Shape;82;p15" title="Screenshot 2025-11-03 at 12.11.35 AM.png"/>
          <p:cNvPicPr preferRelativeResize="0"/>
          <p:nvPr/>
        </p:nvPicPr>
        <p:blipFill rotWithShape="1">
          <a:blip r:embed="rId3">
            <a:alphaModFix/>
          </a:blip>
          <a:srcRect b="26354" l="0" r="0" t="16476"/>
          <a:stretch/>
        </p:blipFill>
        <p:spPr>
          <a:xfrm>
            <a:off x="4739975" y="2489463"/>
            <a:ext cx="4081623" cy="1099487"/>
          </a:xfrm>
          <a:prstGeom prst="rect">
            <a:avLst/>
          </a:prstGeom>
          <a:noFill/>
          <a:ln>
            <a:noFill/>
          </a:ln>
        </p:spPr>
      </p:pic>
      <p:pic>
        <p:nvPicPr>
          <p:cNvPr id="83" name="Google Shape;83;p15" title="Screenshot 2025-11-03 at 12.13.16 AM.png"/>
          <p:cNvPicPr preferRelativeResize="0"/>
          <p:nvPr/>
        </p:nvPicPr>
        <p:blipFill>
          <a:blip r:embed="rId4">
            <a:alphaModFix/>
          </a:blip>
          <a:stretch>
            <a:fillRect/>
          </a:stretch>
        </p:blipFill>
        <p:spPr>
          <a:xfrm>
            <a:off x="4739975" y="1091550"/>
            <a:ext cx="4175750" cy="1167275"/>
          </a:xfrm>
          <a:prstGeom prst="rect">
            <a:avLst/>
          </a:prstGeom>
          <a:noFill/>
          <a:ln>
            <a:noFill/>
          </a:ln>
        </p:spPr>
      </p:pic>
      <p:pic>
        <p:nvPicPr>
          <p:cNvPr id="84" name="Google Shape;84;p15"/>
          <p:cNvPicPr preferRelativeResize="0"/>
          <p:nvPr/>
        </p:nvPicPr>
        <p:blipFill>
          <a:blip r:embed="rId5">
            <a:alphaModFix/>
          </a:blip>
          <a:stretch>
            <a:fillRect/>
          </a:stretch>
        </p:blipFill>
        <p:spPr>
          <a:xfrm>
            <a:off x="5659003" y="3819588"/>
            <a:ext cx="2857475" cy="749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Simulation Plan</a:t>
            </a:r>
            <a:endParaRPr/>
          </a:p>
        </p:txBody>
      </p:sp>
      <p:sp>
        <p:nvSpPr>
          <p:cNvPr id="90" name="Google Shape;90;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Model</a:t>
            </a:r>
            <a:endParaRPr/>
          </a:p>
          <a:p>
            <a:pPr indent="-300037" lvl="0" marL="457200" rtl="0" algn="l">
              <a:spcBef>
                <a:spcPts val="0"/>
              </a:spcBef>
              <a:spcAft>
                <a:spcPts val="0"/>
              </a:spcAft>
              <a:buSzPct val="100000"/>
              <a:buChar char="●"/>
            </a:pPr>
            <a:r>
              <a:rPr lang="en"/>
              <a:t>2D elastic beam (discrete elastic rod or mass-spring model)</a:t>
            </a:r>
            <a:endParaRPr/>
          </a:p>
          <a:p>
            <a:pPr indent="-300037" lvl="0" marL="457200" rtl="0" algn="l">
              <a:spcBef>
                <a:spcPts val="0"/>
              </a:spcBef>
              <a:spcAft>
                <a:spcPts val="0"/>
              </a:spcAft>
              <a:buSzPct val="100000"/>
              <a:buChar char="●"/>
            </a:pPr>
            <a:r>
              <a:rPr lang="en"/>
              <a:t>Simulates deformation under applied torque and constraint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Inputs</a:t>
            </a:r>
            <a:endParaRPr/>
          </a:p>
          <a:p>
            <a:pPr indent="-300037" lvl="0" marL="457200" rtl="0" algn="l">
              <a:spcBef>
                <a:spcPts val="0"/>
              </a:spcBef>
              <a:spcAft>
                <a:spcPts val="0"/>
              </a:spcAft>
              <a:buSzPct val="100000"/>
              <a:buChar char="●"/>
            </a:pPr>
            <a:r>
              <a:rPr lang="en"/>
              <a:t>Boundary conditions (e.g., fixed root, free or actuated tip)</a:t>
            </a:r>
            <a:endParaRPr/>
          </a:p>
          <a:p>
            <a:pPr indent="-300037" lvl="0" marL="457200" rtl="0" algn="l">
              <a:spcBef>
                <a:spcPts val="0"/>
              </a:spcBef>
              <a:spcAft>
                <a:spcPts val="0"/>
              </a:spcAft>
              <a:buSzPct val="100000"/>
              <a:buChar char="●"/>
            </a:pPr>
            <a:r>
              <a:rPr lang="en"/>
              <a:t>Internal actuation (twisting force, bending moment)</a:t>
            </a:r>
            <a:endParaRPr/>
          </a:p>
          <a:p>
            <a:pPr indent="-300037" lvl="0" marL="457200" rtl="0" algn="l">
              <a:spcBef>
                <a:spcPts val="0"/>
              </a:spcBef>
              <a:spcAft>
                <a:spcPts val="0"/>
              </a:spcAft>
              <a:buSzPct val="100000"/>
              <a:buChar char="●"/>
            </a:pPr>
            <a:r>
              <a:rPr lang="en"/>
              <a:t>Variable stiffness (uniform vs. gradient)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Outputs</a:t>
            </a:r>
            <a:endParaRPr/>
          </a:p>
          <a:p>
            <a:pPr indent="-300037" lvl="0" marL="457200" rtl="0" algn="l">
              <a:spcBef>
                <a:spcPts val="0"/>
              </a:spcBef>
              <a:spcAft>
                <a:spcPts val="0"/>
              </a:spcAft>
              <a:buSzPct val="100000"/>
              <a:buChar char="●"/>
            </a:pPr>
            <a:r>
              <a:rPr lang="en"/>
              <a:t>Shape profile (camber and twist deformation)</a:t>
            </a:r>
            <a:endParaRPr/>
          </a:p>
          <a:p>
            <a:pPr indent="-300037" lvl="0" marL="457200" rtl="0" algn="l">
              <a:spcBef>
                <a:spcPts val="0"/>
              </a:spcBef>
              <a:spcAft>
                <a:spcPts val="0"/>
              </a:spcAft>
              <a:buSzPct val="100000"/>
              <a:buChar char="●"/>
            </a:pPr>
            <a:r>
              <a:rPr lang="en"/>
              <a:t>Internal moment and strain energy distributions</a:t>
            </a:r>
            <a:endParaRPr/>
          </a:p>
          <a:p>
            <a:pPr indent="-300037" lvl="0" marL="457200" rtl="0" algn="l">
              <a:spcBef>
                <a:spcPts val="0"/>
              </a:spcBef>
              <a:spcAft>
                <a:spcPts val="0"/>
              </a:spcAft>
              <a:buSzPct val="100000"/>
              <a:buChar char="●"/>
            </a:pPr>
            <a:r>
              <a:rPr lang="en"/>
              <a:t>Curvature and torsion vs. beam length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Comparisons</a:t>
            </a:r>
            <a:endParaRPr/>
          </a:p>
          <a:p>
            <a:pPr indent="-300037" lvl="0" marL="457200" rtl="0" algn="l">
              <a:spcBef>
                <a:spcPts val="0"/>
              </a:spcBef>
              <a:spcAft>
                <a:spcPts val="0"/>
              </a:spcAft>
              <a:buSzPct val="100000"/>
              <a:buChar char="●"/>
            </a:pPr>
            <a:r>
              <a:rPr lang="en"/>
              <a:t>Baseline vs. twist</a:t>
            </a:r>
            <a:endParaRPr/>
          </a:p>
          <a:p>
            <a:pPr indent="-300037" lvl="0" marL="457200" rtl="0" algn="l">
              <a:spcBef>
                <a:spcPts val="0"/>
              </a:spcBef>
              <a:spcAft>
                <a:spcPts val="0"/>
              </a:spcAft>
              <a:buSzPct val="100000"/>
              <a:buChar char="●"/>
            </a:pPr>
            <a:r>
              <a:rPr lang="en"/>
              <a:t>Baseline vs. camber</a:t>
            </a:r>
            <a:endParaRPr/>
          </a:p>
          <a:p>
            <a:pPr indent="-300037" lvl="0" marL="457200" rtl="0" algn="l">
              <a:spcBef>
                <a:spcPts val="0"/>
              </a:spcBef>
              <a:spcAft>
                <a:spcPts val="0"/>
              </a:spcAft>
              <a:buSzPct val="100000"/>
              <a:buChar char="●"/>
            </a:pPr>
            <a:r>
              <a:rPr lang="en"/>
              <a:t>Optional: Combined twist-camber coupling</a:t>
            </a:r>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