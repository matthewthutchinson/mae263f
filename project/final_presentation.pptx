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Average"/>
      <p:regular r:id="rId24"/>
    </p:embeddedFont>
    <p:embeddedFont>
      <p:font typeface="Oswald"/>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B0458DB-907F-4A64-A164-2EAA95A8880E}">
  <a:tblStyle styleId="{7B0458DB-907F-4A64-A164-2EAA95A8880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Average-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swald-bold.fntdata"/><Relationship Id="rId25" Type="http://schemas.openxmlformats.org/officeDocument/2006/relationships/font" Target="fonts/Oswal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 sz="1200">
                <a:solidFill>
                  <a:srgbClr val="0E0E0E"/>
                </a:solidFill>
              </a:rPr>
              <a:t>Birds like falcons and swifts can twist and camber their wings mid-flight, giving them incredible agility and efficiency. We’re drawing inspiration from these mechanisms to simulate similar shape morphing in a flexible, continuous wing structure</a:t>
            </a:r>
            <a:endParaRPr sz="1200">
              <a:solidFill>
                <a:srgbClr val="0E0E0E"/>
              </a:solidFill>
            </a:endParaRPr>
          </a:p>
          <a:p>
            <a:pPr indent="0" lvl="0" marL="0" rtl="0" algn="l">
              <a:spcBef>
                <a:spcPts val="0"/>
              </a:spcBef>
              <a:spcAft>
                <a:spcPts val="0"/>
              </a:spcAft>
              <a:buNone/>
            </a:pPr>
            <a:r>
              <a:t/>
            </a:r>
            <a:endParaRPr sz="1500">
              <a:solidFill>
                <a:srgbClr val="0E0E0E"/>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9faab4c41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9faab4c41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None/>
            </a:pPr>
            <a:r>
              <a:rPr lang="en" sz="1200">
                <a:solidFill>
                  <a:srgbClr val="0E0E0E"/>
                </a:solidFill>
              </a:rPr>
              <a:t>Camber controls the curvature of the wing and influences lift, while twist lets birds change the angle of attack along the span—essential for roll, stability, and gust adaptation. If we can replicate this in a continuous flexible structure, it could transform how UAVs respond in real-time flight</a:t>
            </a:r>
            <a:endParaRPr>
              <a:solidFill>
                <a:schemeClr val="dk1"/>
              </a:solidFill>
            </a:endParaRPr>
          </a:p>
          <a:p>
            <a:pPr indent="0" lvl="0" marL="139700" rtl="0" algn="l">
              <a:lnSpc>
                <a:spcPct val="115000"/>
              </a:lnSpc>
              <a:spcBef>
                <a:spcPts val="0"/>
              </a:spcBef>
              <a:spcAft>
                <a:spcPts val="0"/>
              </a:spcAft>
              <a:buNone/>
            </a:pPr>
            <a:r>
              <a:t/>
            </a:r>
            <a:endParaRPr sz="1200">
              <a:solidFill>
                <a:srgbClr val="0E0E0E"/>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f8d742fa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f8d742fa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f8d742fa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f8d742fa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f8d742fa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f8d742fa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Average"/>
                <a:ea typeface="Average"/>
                <a:cs typeface="Average"/>
                <a:sym typeface="Average"/>
              </a:rPr>
              <a:t>Setup:</a:t>
            </a:r>
            <a:endParaRPr sz="1800">
              <a:solidFill>
                <a:schemeClr val="dk1"/>
              </a:solidFill>
              <a:latin typeface="Average"/>
              <a:ea typeface="Average"/>
              <a:cs typeface="Average"/>
              <a:sym typeface="Average"/>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Average"/>
                <a:ea typeface="Average"/>
                <a:cs typeface="Average"/>
                <a:sym typeface="Average"/>
              </a:rPr>
              <a:t>Uniform EI</a:t>
            </a:r>
            <a:endParaRPr sz="1800">
              <a:solidFill>
                <a:schemeClr val="dk1"/>
              </a:solidFill>
              <a:latin typeface="Average"/>
              <a:ea typeface="Average"/>
              <a:cs typeface="Average"/>
              <a:sym typeface="Average"/>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Average"/>
                <a:ea typeface="Average"/>
                <a:cs typeface="Average"/>
                <a:sym typeface="Average"/>
              </a:rPr>
              <a:t>Kappa set to -0.10</a:t>
            </a:r>
            <a:endParaRPr sz="1800">
              <a:solidFill>
                <a:schemeClr val="dk1"/>
              </a:solidFill>
              <a:latin typeface="Average"/>
              <a:ea typeface="Average"/>
              <a:cs typeface="Average"/>
              <a:sym typeface="Average"/>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Average"/>
                <a:ea typeface="Average"/>
                <a:cs typeface="Average"/>
                <a:sym typeface="Average"/>
              </a:rPr>
              <a:t>Exponential kappa profile</a:t>
            </a:r>
            <a:endParaRPr sz="1800">
              <a:solidFill>
                <a:schemeClr val="dk1"/>
              </a:solidFill>
              <a:latin typeface="Average"/>
              <a:ea typeface="Average"/>
              <a:cs typeface="Average"/>
              <a:sym typeface="Average"/>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Average"/>
                <a:ea typeface="Average"/>
                <a:cs typeface="Average"/>
                <a:sym typeface="Average"/>
              </a:rPr>
              <a:t>Linear kappa transition (0 → -0.10)</a:t>
            </a:r>
            <a:endParaRPr sz="1800">
              <a:solidFill>
                <a:schemeClr val="dk1"/>
              </a:solidFill>
              <a:latin typeface="Average"/>
              <a:ea typeface="Average"/>
              <a:cs typeface="Average"/>
              <a:sym typeface="Average"/>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Average"/>
                <a:ea typeface="Average"/>
                <a:cs typeface="Average"/>
                <a:sym typeface="Average"/>
              </a:rPr>
              <a:t>No drag model applied </a:t>
            </a:r>
            <a:endParaRPr sz="1800">
              <a:solidFill>
                <a:schemeClr val="dk1"/>
              </a:solidFill>
              <a:latin typeface="Average"/>
              <a:ea typeface="Average"/>
              <a:cs typeface="Average"/>
              <a:sym typeface="Average"/>
            </a:endParaRPr>
          </a:p>
          <a:p>
            <a:pPr indent="0" lvl="0" marL="0" rtl="0" algn="l">
              <a:lnSpc>
                <a:spcPct val="115000"/>
              </a:lnSpc>
              <a:spcBef>
                <a:spcPts val="0"/>
              </a:spcBef>
              <a:spcAft>
                <a:spcPts val="0"/>
              </a:spcAft>
              <a:buNone/>
            </a:pPr>
            <a:r>
              <a:rPr lang="en" sz="1800">
                <a:solidFill>
                  <a:schemeClr val="dk1"/>
                </a:solidFill>
                <a:latin typeface="Average"/>
                <a:ea typeface="Average"/>
                <a:cs typeface="Average"/>
                <a:sym typeface="Average"/>
              </a:rPr>
              <a:t>Zero airflow</a:t>
            </a:r>
            <a:endParaRPr sz="1800">
              <a:solidFill>
                <a:schemeClr val="dk1"/>
              </a:solidFill>
              <a:latin typeface="Average"/>
              <a:ea typeface="Average"/>
              <a:cs typeface="Average"/>
              <a:sym typeface="Average"/>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63928ae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63928ae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f8d742fa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f8d742fa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63928aed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63928aed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f8d742fa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f8d742fa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Setup:</a:t>
            </a:r>
            <a:endParaRPr/>
          </a:p>
          <a:p>
            <a:pPr indent="0" lvl="0" marL="0" rtl="0" algn="l">
              <a:lnSpc>
                <a:spcPct val="115000"/>
              </a:lnSpc>
              <a:spcBef>
                <a:spcPts val="0"/>
              </a:spcBef>
              <a:spcAft>
                <a:spcPts val="0"/>
              </a:spcAft>
              <a:buClr>
                <a:schemeClr val="dk1"/>
              </a:buClr>
              <a:buSzPts val="1100"/>
              <a:buFont typeface="Arial"/>
              <a:buNone/>
            </a:pPr>
            <a:r>
              <a:rPr lang="en"/>
              <a:t>Uniform beam</a:t>
            </a:r>
            <a:endParaRPr/>
          </a:p>
          <a:p>
            <a:pPr indent="0" lvl="0" marL="0" rtl="0" algn="l">
              <a:lnSpc>
                <a:spcPct val="115000"/>
              </a:lnSpc>
              <a:spcBef>
                <a:spcPts val="0"/>
              </a:spcBef>
              <a:spcAft>
                <a:spcPts val="0"/>
              </a:spcAft>
              <a:buClr>
                <a:schemeClr val="dk1"/>
              </a:buClr>
              <a:buSzPts val="1100"/>
              <a:buFont typeface="Arial"/>
              <a:buNone/>
            </a:pPr>
            <a:r>
              <a:rPr lang="en"/>
              <a:t>Kappa set to -0.10</a:t>
            </a:r>
            <a:endParaRPr/>
          </a:p>
          <a:p>
            <a:pPr indent="0" lvl="0" marL="0" rtl="0" algn="l">
              <a:lnSpc>
                <a:spcPct val="115000"/>
              </a:lnSpc>
              <a:spcBef>
                <a:spcPts val="0"/>
              </a:spcBef>
              <a:spcAft>
                <a:spcPts val="0"/>
              </a:spcAft>
              <a:buClr>
                <a:schemeClr val="dk1"/>
              </a:buClr>
              <a:buSzPts val="1100"/>
              <a:buFont typeface="Arial"/>
              <a:buNone/>
            </a:pPr>
            <a:r>
              <a:rPr lang="en"/>
              <a:t>Gaussian camber profile (kappa)</a:t>
            </a:r>
            <a:endParaRPr/>
          </a:p>
          <a:p>
            <a:pPr indent="0" lvl="0" marL="0" rtl="0" algn="l">
              <a:lnSpc>
                <a:spcPct val="115000"/>
              </a:lnSpc>
              <a:spcBef>
                <a:spcPts val="0"/>
              </a:spcBef>
              <a:spcAft>
                <a:spcPts val="0"/>
              </a:spcAft>
              <a:buClr>
                <a:schemeClr val="dk1"/>
              </a:buClr>
              <a:buSzPts val="1100"/>
              <a:buFont typeface="Arial"/>
              <a:buNone/>
            </a:pPr>
            <a:r>
              <a:rPr lang="en"/>
              <a:t>Linear transition</a:t>
            </a:r>
            <a:endParaRPr/>
          </a:p>
          <a:p>
            <a:pPr indent="0" lvl="0" marL="0" rtl="0" algn="l">
              <a:lnSpc>
                <a:spcPct val="115000"/>
              </a:lnSpc>
              <a:spcBef>
                <a:spcPts val="0"/>
              </a:spcBef>
              <a:spcAft>
                <a:spcPts val="0"/>
              </a:spcAft>
              <a:buClr>
                <a:schemeClr val="dk1"/>
              </a:buClr>
              <a:buSzPts val="1100"/>
              <a:buFont typeface="Arial"/>
              <a:buNone/>
            </a:pPr>
            <a:r>
              <a:rPr lang="en"/>
              <a:t>High Reynolds drag model</a:t>
            </a:r>
            <a:endParaRPr/>
          </a:p>
          <a:p>
            <a:pPr indent="0" lvl="0" marL="0" rtl="0" algn="l">
              <a:lnSpc>
                <a:spcPct val="115000"/>
              </a:lnSpc>
              <a:spcBef>
                <a:spcPts val="0"/>
              </a:spcBef>
              <a:spcAft>
                <a:spcPts val="0"/>
              </a:spcAft>
              <a:buClr>
                <a:schemeClr val="dk1"/>
              </a:buClr>
              <a:buSzPts val="1100"/>
              <a:buFont typeface="Arial"/>
              <a:buNone/>
            </a:pPr>
            <a:r>
              <a:rPr lang="en"/>
              <a:t>20 m/s airflow from left to observe drag resistance</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63928aed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63928aed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f8d742fa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f8d742fa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63928aed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63928aed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f8d742fa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f8d742fa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63928aed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63928aed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fb84e80f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fb84e80f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63928aed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63928aed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f8d742f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f8d742f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1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8.png"/><Relationship Id="rId5"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drive.google.com/file/d/1-bP_jECBu1jxGaIqXuCKPWJVITxlX0QC/view" TargetMode="External"/><Relationship Id="rId4" Type="http://schemas.openxmlformats.org/officeDocument/2006/relationships/image" Target="../media/image3.jpg"/><Relationship Id="rId5"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4.png"/><Relationship Id="rId6"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27.png"/><Relationship Id="rId5" Type="http://schemas.openxmlformats.org/officeDocument/2006/relationships/image" Target="../media/image9.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7.png"/><Relationship Id="rId5" Type="http://schemas.openxmlformats.org/officeDocument/2006/relationships/image" Target="../media/image17.png"/><Relationship Id="rId6"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26.png"/><Relationship Id="rId6"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31.png"/><Relationship Id="rId7"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1232550"/>
            <a:ext cx="7801500" cy="1339200"/>
          </a:xfrm>
          <a:prstGeom prst="rect">
            <a:avLst/>
          </a:prstGeom>
        </p:spPr>
        <p:txBody>
          <a:bodyPr anchorCtr="0" anchor="b" bIns="91425" lIns="91425" spcFirstLastPara="1" rIns="91425" wrap="square" tIns="91425">
            <a:spAutoFit/>
          </a:bodyPr>
          <a:lstStyle/>
          <a:p>
            <a:pPr indent="0" lvl="0" marL="0" rtl="0" algn="ctr">
              <a:lnSpc>
                <a:spcPct val="150000"/>
              </a:lnSpc>
              <a:spcBef>
                <a:spcPts val="0"/>
              </a:spcBef>
              <a:spcAft>
                <a:spcPts val="0"/>
              </a:spcAft>
              <a:buSzPts val="990"/>
              <a:buNone/>
            </a:pPr>
            <a:r>
              <a:rPr lang="en" sz="3000"/>
              <a:t>263F Final Presentation</a:t>
            </a:r>
            <a:endParaRPr sz="3000"/>
          </a:p>
          <a:p>
            <a:pPr indent="0" lvl="0" marL="0" rtl="0" algn="ctr">
              <a:lnSpc>
                <a:spcPct val="150000"/>
              </a:lnSpc>
              <a:spcBef>
                <a:spcPts val="0"/>
              </a:spcBef>
              <a:spcAft>
                <a:spcPts val="0"/>
              </a:spcAft>
              <a:buSzPts val="990"/>
              <a:buNone/>
            </a:pPr>
            <a:r>
              <a:rPr lang="en" sz="3000"/>
              <a:t>Simulation of Camber Morphing Wing</a:t>
            </a:r>
            <a:endParaRPr sz="3000"/>
          </a:p>
        </p:txBody>
      </p:sp>
      <p:sp>
        <p:nvSpPr>
          <p:cNvPr id="60" name="Google Shape;60;p13"/>
          <p:cNvSpPr txBox="1"/>
          <p:nvPr>
            <p:ph idx="1" type="subTitle"/>
          </p:nvPr>
        </p:nvSpPr>
        <p:spPr>
          <a:xfrm>
            <a:off x="671250" y="3181113"/>
            <a:ext cx="78015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1800"/>
              <a:t>Andrew Tran and Matthew Hutchinson</a:t>
            </a:r>
            <a:endParaRPr sz="1800"/>
          </a:p>
        </p:txBody>
      </p:sp>
      <p:pic>
        <p:nvPicPr>
          <p:cNvPr id="61" name="Google Shape;61;p13"/>
          <p:cNvPicPr preferRelativeResize="0"/>
          <p:nvPr/>
        </p:nvPicPr>
        <p:blipFill rotWithShape="1">
          <a:blip r:embed="rId3">
            <a:alphaModFix/>
          </a:blip>
          <a:srcRect b="0" l="10978" r="23980" t="0"/>
          <a:stretch/>
        </p:blipFill>
        <p:spPr>
          <a:xfrm>
            <a:off x="177500" y="3241900"/>
            <a:ext cx="1987625" cy="1718950"/>
          </a:xfrm>
          <a:prstGeom prst="rect">
            <a:avLst/>
          </a:prstGeom>
          <a:noFill/>
          <a:ln>
            <a:noFill/>
          </a:ln>
        </p:spPr>
      </p:pic>
      <p:pic>
        <p:nvPicPr>
          <p:cNvPr id="62" name="Google Shape;62;p13"/>
          <p:cNvPicPr preferRelativeResize="0"/>
          <p:nvPr/>
        </p:nvPicPr>
        <p:blipFill rotWithShape="1">
          <a:blip r:embed="rId4">
            <a:alphaModFix/>
          </a:blip>
          <a:srcRect b="0" l="16228" r="9872" t="0"/>
          <a:stretch/>
        </p:blipFill>
        <p:spPr>
          <a:xfrm>
            <a:off x="6989197" y="3168949"/>
            <a:ext cx="1987628" cy="1791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68" name="Google Shape;68;p14"/>
          <p:cNvSpPr txBox="1"/>
          <p:nvPr>
            <p:ph idx="1" type="body"/>
          </p:nvPr>
        </p:nvSpPr>
        <p:spPr>
          <a:xfrm>
            <a:off x="257175" y="1152475"/>
            <a:ext cx="4175700" cy="3754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continuous camber-morphing wing, which enables smooth shape change, cleaner airflow, and more efficient lift modulation.</a:t>
            </a:r>
            <a:endParaRPr/>
          </a:p>
          <a:p>
            <a:pPr indent="-342900" lvl="0" marL="457200" rtl="0" algn="l">
              <a:spcBef>
                <a:spcPts val="1000"/>
              </a:spcBef>
              <a:spcAft>
                <a:spcPts val="1000"/>
              </a:spcAft>
              <a:buSzPts val="1800"/>
              <a:buChar char="●"/>
            </a:pPr>
            <a:r>
              <a:rPr lang="en"/>
              <a:t>We model an airfoil section as a 2D elastic beam and simulate camber deformation using applied bending moments and trailing-edge actuation. </a:t>
            </a:r>
            <a:endParaRPr/>
          </a:p>
        </p:txBody>
      </p:sp>
      <p:pic>
        <p:nvPicPr>
          <p:cNvPr id="69" name="Google Shape;69;p14" title="Screenshot 2025-11-03 at 12.11.35 AM.png"/>
          <p:cNvPicPr preferRelativeResize="0"/>
          <p:nvPr/>
        </p:nvPicPr>
        <p:blipFill rotWithShape="1">
          <a:blip r:embed="rId3">
            <a:alphaModFix/>
          </a:blip>
          <a:srcRect b="26354" l="0" r="0" t="16476"/>
          <a:stretch/>
        </p:blipFill>
        <p:spPr>
          <a:xfrm>
            <a:off x="4889913" y="2489463"/>
            <a:ext cx="4081623" cy="1099487"/>
          </a:xfrm>
          <a:prstGeom prst="rect">
            <a:avLst/>
          </a:prstGeom>
          <a:noFill/>
          <a:ln>
            <a:noFill/>
          </a:ln>
        </p:spPr>
      </p:pic>
      <p:pic>
        <p:nvPicPr>
          <p:cNvPr id="70" name="Google Shape;70;p14" title="Screenshot 2025-11-03 at 12.13.16 AM.png"/>
          <p:cNvPicPr preferRelativeResize="0"/>
          <p:nvPr/>
        </p:nvPicPr>
        <p:blipFill>
          <a:blip r:embed="rId4">
            <a:alphaModFix/>
          </a:blip>
          <a:stretch>
            <a:fillRect/>
          </a:stretch>
        </p:blipFill>
        <p:spPr>
          <a:xfrm>
            <a:off x="4842850" y="1091550"/>
            <a:ext cx="4175750" cy="1167275"/>
          </a:xfrm>
          <a:prstGeom prst="rect">
            <a:avLst/>
          </a:prstGeom>
          <a:noFill/>
          <a:ln>
            <a:noFill/>
          </a:ln>
        </p:spPr>
      </p:pic>
      <p:pic>
        <p:nvPicPr>
          <p:cNvPr id="71" name="Google Shape;71;p14"/>
          <p:cNvPicPr preferRelativeResize="0"/>
          <p:nvPr/>
        </p:nvPicPr>
        <p:blipFill>
          <a:blip r:embed="rId5">
            <a:alphaModFix/>
          </a:blip>
          <a:stretch>
            <a:fillRect/>
          </a:stretch>
        </p:blipFill>
        <p:spPr>
          <a:xfrm>
            <a:off x="5501990" y="3819588"/>
            <a:ext cx="2857475" cy="749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t>
            </a:r>
            <a:r>
              <a:rPr lang="en"/>
              <a:t>imulation Setup</a:t>
            </a:r>
            <a:endParaRPr/>
          </a:p>
        </p:txBody>
      </p:sp>
      <p:sp>
        <p:nvSpPr>
          <p:cNvPr id="77" name="Google Shape;77;p15"/>
          <p:cNvSpPr txBox="1"/>
          <p:nvPr>
            <p:ph idx="1" type="body"/>
          </p:nvPr>
        </p:nvSpPr>
        <p:spPr>
          <a:xfrm>
            <a:off x="311700" y="1152475"/>
            <a:ext cx="4309800" cy="3416400"/>
          </a:xfrm>
          <a:prstGeom prst="rect">
            <a:avLst/>
          </a:prstGeom>
        </p:spPr>
        <p:txBody>
          <a:bodyPr anchorCtr="0" anchor="t" bIns="91425" lIns="91425" spcFirstLastPara="1" rIns="91425" wrap="square" tIns="91425">
            <a:normAutofit fontScale="77500" lnSpcReduction="20000"/>
          </a:bodyPr>
          <a:lstStyle/>
          <a:p>
            <a:pPr indent="-317182" lvl="0" marL="457200" rtl="0" algn="l">
              <a:lnSpc>
                <a:spcPct val="150000"/>
              </a:lnSpc>
              <a:spcBef>
                <a:spcPts val="0"/>
              </a:spcBef>
              <a:spcAft>
                <a:spcPts val="0"/>
              </a:spcAft>
              <a:buSzPct val="100000"/>
              <a:buChar char="●"/>
            </a:pPr>
            <a:r>
              <a:rPr lang="en"/>
              <a:t>21 nodes</a:t>
            </a:r>
            <a:endParaRPr/>
          </a:p>
          <a:p>
            <a:pPr indent="-317182" lvl="0" marL="457200" rtl="0" algn="l">
              <a:lnSpc>
                <a:spcPct val="150000"/>
              </a:lnSpc>
              <a:spcBef>
                <a:spcPts val="0"/>
              </a:spcBef>
              <a:spcAft>
                <a:spcPts val="0"/>
              </a:spcAft>
              <a:buSzPct val="100000"/>
              <a:buChar char="●"/>
            </a:pPr>
            <a:r>
              <a:rPr lang="en"/>
              <a:t>Material: Carbon Fiber</a:t>
            </a:r>
            <a:endParaRPr/>
          </a:p>
          <a:p>
            <a:pPr indent="-297497" lvl="1" marL="914400" rtl="0" algn="l">
              <a:lnSpc>
                <a:spcPct val="150000"/>
              </a:lnSpc>
              <a:spcBef>
                <a:spcPts val="0"/>
              </a:spcBef>
              <a:spcAft>
                <a:spcPts val="0"/>
              </a:spcAft>
              <a:buSzPct val="100000"/>
              <a:buChar char="○"/>
            </a:pPr>
            <a:r>
              <a:rPr lang="en"/>
              <a:t>Density: 1700 kg/m^3</a:t>
            </a:r>
            <a:endParaRPr/>
          </a:p>
          <a:p>
            <a:pPr indent="-297497" lvl="1" marL="914400" rtl="0" algn="l">
              <a:lnSpc>
                <a:spcPct val="150000"/>
              </a:lnSpc>
              <a:spcBef>
                <a:spcPts val="0"/>
              </a:spcBef>
              <a:spcAft>
                <a:spcPts val="0"/>
              </a:spcAft>
              <a:buSzPct val="100000"/>
              <a:buChar char="○"/>
            </a:pPr>
            <a:r>
              <a:rPr lang="en"/>
              <a:t>Young's</a:t>
            </a:r>
            <a:r>
              <a:rPr lang="en"/>
              <a:t> Modulus: 200 GPa</a:t>
            </a:r>
            <a:endParaRPr/>
          </a:p>
          <a:p>
            <a:pPr indent="-317182" lvl="0" marL="457200" rtl="0" algn="l">
              <a:lnSpc>
                <a:spcPct val="150000"/>
              </a:lnSpc>
              <a:spcBef>
                <a:spcPts val="0"/>
              </a:spcBef>
              <a:spcAft>
                <a:spcPts val="0"/>
              </a:spcAft>
              <a:buSzPct val="100000"/>
              <a:buChar char="●"/>
            </a:pPr>
            <a:r>
              <a:rPr lang="en"/>
              <a:t>r0, R = 0.011, 0.013</a:t>
            </a:r>
            <a:endParaRPr/>
          </a:p>
          <a:p>
            <a:pPr indent="-317182" lvl="0" marL="457200" rtl="0" algn="l">
              <a:lnSpc>
                <a:spcPct val="150000"/>
              </a:lnSpc>
              <a:spcBef>
                <a:spcPts val="0"/>
              </a:spcBef>
              <a:spcAft>
                <a:spcPts val="0"/>
              </a:spcAft>
              <a:buSzPct val="100000"/>
              <a:buChar char="●"/>
            </a:pPr>
            <a:r>
              <a:rPr lang="en"/>
              <a:t>Max kappa is -0.1</a:t>
            </a:r>
            <a:endParaRPr/>
          </a:p>
          <a:p>
            <a:pPr indent="-317182" lvl="0" marL="457200" rtl="0" algn="l">
              <a:lnSpc>
                <a:spcPct val="150000"/>
              </a:lnSpc>
              <a:spcBef>
                <a:spcPts val="0"/>
              </a:spcBef>
              <a:spcAft>
                <a:spcPts val="0"/>
              </a:spcAft>
              <a:buSzPct val="100000"/>
              <a:buChar char="●"/>
            </a:pPr>
            <a:r>
              <a:rPr lang="en"/>
              <a:t>Drag_Model: None &amp; High Reynolds Model</a:t>
            </a:r>
            <a:endParaRPr/>
          </a:p>
          <a:p>
            <a:pPr indent="-317182" lvl="0" marL="457200" rtl="0" algn="l">
              <a:lnSpc>
                <a:spcPct val="150000"/>
              </a:lnSpc>
              <a:spcBef>
                <a:spcPts val="0"/>
              </a:spcBef>
              <a:spcAft>
                <a:spcPts val="0"/>
              </a:spcAft>
              <a:buSzPct val="100000"/>
              <a:buChar char="●"/>
            </a:pPr>
            <a:r>
              <a:rPr lang="en"/>
              <a:t>F</a:t>
            </a:r>
            <a:r>
              <a:rPr lang="en"/>
              <a:t>orward airspeed:  0 or 20 m/s</a:t>
            </a:r>
            <a:endParaRPr/>
          </a:p>
          <a:p>
            <a:pPr indent="-317182" lvl="0" marL="457200" rtl="0" algn="l">
              <a:lnSpc>
                <a:spcPct val="150000"/>
              </a:lnSpc>
              <a:spcBef>
                <a:spcPts val="0"/>
              </a:spcBef>
              <a:spcAft>
                <a:spcPts val="0"/>
              </a:spcAft>
              <a:buSzPct val="100000"/>
              <a:buChar char="●"/>
            </a:pPr>
            <a:r>
              <a:rPr lang="en"/>
              <a:t>Kappa Profile: ‘uniform', 'exponential', 'linear', 'gaussian'</a:t>
            </a:r>
            <a:endParaRPr/>
          </a:p>
          <a:p>
            <a:pPr indent="-317182" lvl="0" marL="457200" rtl="0" algn="l">
              <a:lnSpc>
                <a:spcPct val="150000"/>
              </a:lnSpc>
              <a:spcBef>
                <a:spcPts val="0"/>
              </a:spcBef>
              <a:spcAft>
                <a:spcPts val="0"/>
              </a:spcAft>
              <a:buSzPct val="100000"/>
              <a:buChar char="●"/>
            </a:pPr>
            <a:r>
              <a:rPr lang="en"/>
              <a:t>Stiffness Profile (EI): 'uniform', 'linear_taper', 'center_soft', 'tip_soft'</a:t>
            </a:r>
            <a:endParaRPr/>
          </a:p>
        </p:txBody>
      </p:sp>
      <p:sp>
        <p:nvSpPr>
          <p:cNvPr id="78" name="Google Shape;78;p15"/>
          <p:cNvSpPr txBox="1"/>
          <p:nvPr/>
        </p:nvSpPr>
        <p:spPr>
          <a:xfrm>
            <a:off x="4621425" y="1314875"/>
            <a:ext cx="4210800" cy="3254100"/>
          </a:xfrm>
          <a:prstGeom prst="rect">
            <a:avLst/>
          </a:prstGeom>
          <a:noFill/>
          <a:ln>
            <a:noFill/>
          </a:ln>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700">
                <a:solidFill>
                  <a:schemeClr val="accent3"/>
                </a:solidFill>
                <a:latin typeface="Average"/>
                <a:ea typeface="Average"/>
                <a:cs typeface="Average"/>
                <a:sym typeface="Average"/>
              </a:rPr>
              <a:t>Aerodynamic Properties</a:t>
            </a:r>
            <a:endParaRPr sz="1700">
              <a:solidFill>
                <a:schemeClr val="accent3"/>
              </a:solidFill>
              <a:latin typeface="Average"/>
              <a:ea typeface="Average"/>
              <a:cs typeface="Average"/>
              <a:sym typeface="Average"/>
            </a:endParaRPr>
          </a:p>
          <a:p>
            <a:pPr indent="0" lvl="0" marL="0" rtl="0" algn="l">
              <a:lnSpc>
                <a:spcPct val="150000"/>
              </a:lnSpc>
              <a:spcBef>
                <a:spcPts val="0"/>
              </a:spcBef>
              <a:spcAft>
                <a:spcPts val="0"/>
              </a:spcAft>
              <a:buNone/>
            </a:pPr>
            <a:r>
              <a:rPr lang="en" sz="1700">
                <a:solidFill>
                  <a:schemeClr val="accent3"/>
                </a:solidFill>
                <a:latin typeface="Average"/>
                <a:ea typeface="Average"/>
                <a:cs typeface="Average"/>
                <a:sym typeface="Average"/>
              </a:rPr>
              <a:t>Ct = 2.0   # Tangential resistance (low-Re)</a:t>
            </a:r>
            <a:endParaRPr sz="1700">
              <a:solidFill>
                <a:schemeClr val="accent3"/>
              </a:solidFill>
              <a:latin typeface="Average"/>
              <a:ea typeface="Average"/>
              <a:cs typeface="Average"/>
              <a:sym typeface="Average"/>
            </a:endParaRPr>
          </a:p>
          <a:p>
            <a:pPr indent="0" lvl="0" marL="0" rtl="0" algn="l">
              <a:lnSpc>
                <a:spcPct val="150000"/>
              </a:lnSpc>
              <a:spcBef>
                <a:spcPts val="0"/>
              </a:spcBef>
              <a:spcAft>
                <a:spcPts val="0"/>
              </a:spcAft>
              <a:buNone/>
            </a:pPr>
            <a:r>
              <a:rPr lang="en" sz="1700">
                <a:solidFill>
                  <a:schemeClr val="accent3"/>
                </a:solidFill>
                <a:latin typeface="Average"/>
                <a:ea typeface="Average"/>
                <a:cs typeface="Average"/>
                <a:sym typeface="Average"/>
              </a:rPr>
              <a:t>Cp = 10.0  # Normal resistance (low-Re)</a:t>
            </a:r>
            <a:endParaRPr sz="1700">
              <a:solidFill>
                <a:schemeClr val="accent3"/>
              </a:solidFill>
              <a:latin typeface="Average"/>
              <a:ea typeface="Average"/>
              <a:cs typeface="Average"/>
              <a:sym typeface="Average"/>
            </a:endParaRPr>
          </a:p>
          <a:p>
            <a:pPr indent="0" lvl="0" marL="0" rtl="0" algn="l">
              <a:lnSpc>
                <a:spcPct val="150000"/>
              </a:lnSpc>
              <a:spcBef>
                <a:spcPts val="0"/>
              </a:spcBef>
              <a:spcAft>
                <a:spcPts val="0"/>
              </a:spcAft>
              <a:buNone/>
            </a:pPr>
            <a:r>
              <a:rPr lang="en" sz="1700">
                <a:solidFill>
                  <a:schemeClr val="accent3"/>
                </a:solidFill>
                <a:latin typeface="Average"/>
                <a:ea typeface="Average"/>
                <a:cs typeface="Average"/>
                <a:sym typeface="Average"/>
              </a:rPr>
              <a:t>Cd =  1.2   # Drag coefficient (high-Re)</a:t>
            </a:r>
            <a:endParaRPr sz="1700">
              <a:solidFill>
                <a:schemeClr val="accent3"/>
              </a:solidFill>
              <a:latin typeface="Average"/>
              <a:ea typeface="Average"/>
              <a:cs typeface="Average"/>
              <a:sym typeface="Average"/>
            </a:endParaRPr>
          </a:p>
          <a:p>
            <a:pPr indent="0" lvl="0" marL="0" rtl="0" algn="l">
              <a:lnSpc>
                <a:spcPct val="150000"/>
              </a:lnSpc>
              <a:spcBef>
                <a:spcPts val="0"/>
              </a:spcBef>
              <a:spcAft>
                <a:spcPts val="0"/>
              </a:spcAft>
              <a:buNone/>
            </a:pPr>
            <a:r>
              <a:rPr lang="en" sz="1700">
                <a:solidFill>
                  <a:schemeClr val="accent3"/>
                </a:solidFill>
                <a:latin typeface="Average"/>
                <a:ea typeface="Average"/>
                <a:cs typeface="Average"/>
                <a:sym typeface="Average"/>
              </a:rPr>
              <a:t>Rho_air = 1.2 # Fluid density (air)</a:t>
            </a:r>
            <a:endParaRPr sz="1700">
              <a:solidFill>
                <a:schemeClr val="accent3"/>
              </a:solidFill>
              <a:latin typeface="Average"/>
              <a:ea typeface="Average"/>
              <a:cs typeface="Average"/>
              <a:sym typeface="Average"/>
            </a:endParaRPr>
          </a:p>
          <a:p>
            <a:pPr indent="0" lvl="0" marL="0" rtl="0" algn="l">
              <a:lnSpc>
                <a:spcPct val="150000"/>
              </a:lnSpc>
              <a:spcBef>
                <a:spcPts val="0"/>
              </a:spcBef>
              <a:spcAft>
                <a:spcPts val="0"/>
              </a:spcAft>
              <a:buNone/>
            </a:pPr>
            <a:r>
              <a:rPr lang="en" sz="1700">
                <a:solidFill>
                  <a:schemeClr val="accent3"/>
                </a:solidFill>
                <a:latin typeface="Average"/>
                <a:ea typeface="Average"/>
                <a:cs typeface="Average"/>
                <a:sym typeface="Average"/>
              </a:rPr>
              <a:t>Mu = 1.8e-5 # Dynamic viscosity (Pa.s)</a:t>
            </a:r>
            <a:endParaRPr sz="1700">
              <a:solidFill>
                <a:schemeClr val="accent3"/>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Animation of Dynamic Morphing</a:t>
            </a:r>
            <a:endParaRPr/>
          </a:p>
        </p:txBody>
      </p:sp>
      <p:sp>
        <p:nvSpPr>
          <p:cNvPr id="84" name="Google Shape;8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simulate 5 morphing cases:</a:t>
            </a:r>
            <a:endParaRPr/>
          </a:p>
          <a:p>
            <a:pPr indent="0" lvl="0" marL="0" rtl="0" algn="l">
              <a:spcBef>
                <a:spcPts val="1200"/>
              </a:spcBef>
              <a:spcAft>
                <a:spcPts val="1200"/>
              </a:spcAft>
              <a:buNone/>
            </a:pPr>
            <a:r>
              <a:t/>
            </a:r>
            <a:endParaRPr/>
          </a:p>
        </p:txBody>
      </p:sp>
      <p:pic>
        <p:nvPicPr>
          <p:cNvPr id="85" name="Google Shape;85;p16" title="wing_morphing_2.mp4">
            <a:hlinkClick r:id="rId3"/>
          </p:cNvPr>
          <p:cNvPicPr preferRelativeResize="0"/>
          <p:nvPr/>
        </p:nvPicPr>
        <p:blipFill>
          <a:blip r:embed="rId4">
            <a:alphaModFix/>
          </a:blip>
          <a:stretch>
            <a:fillRect/>
          </a:stretch>
        </p:blipFill>
        <p:spPr>
          <a:xfrm>
            <a:off x="4732620" y="1152475"/>
            <a:ext cx="4099680" cy="3416400"/>
          </a:xfrm>
          <a:prstGeom prst="rect">
            <a:avLst/>
          </a:prstGeom>
          <a:noFill/>
          <a:ln>
            <a:noFill/>
          </a:ln>
        </p:spPr>
      </p:pic>
      <p:pic>
        <p:nvPicPr>
          <p:cNvPr id="86" name="Google Shape;86;p16"/>
          <p:cNvPicPr preferRelativeResize="0"/>
          <p:nvPr/>
        </p:nvPicPr>
        <p:blipFill>
          <a:blip r:embed="rId5">
            <a:alphaModFix/>
          </a:blip>
          <a:stretch>
            <a:fillRect/>
          </a:stretch>
        </p:blipFill>
        <p:spPr>
          <a:xfrm>
            <a:off x="253700" y="1703824"/>
            <a:ext cx="4420924" cy="23136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1000"/>
                                        <p:tgtEl>
                                          <p:spTgt spid="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Baseline Morph – Case A</a:t>
            </a:r>
            <a:endParaRPr/>
          </a:p>
        </p:txBody>
      </p:sp>
      <p:sp>
        <p:nvSpPr>
          <p:cNvPr id="92" name="Google Shape;92;p17"/>
          <p:cNvSpPr txBox="1"/>
          <p:nvPr>
            <p:ph idx="1" type="body"/>
          </p:nvPr>
        </p:nvSpPr>
        <p:spPr>
          <a:xfrm>
            <a:off x="393825" y="3062775"/>
            <a:ext cx="3375000" cy="6159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1200"/>
              </a:spcAft>
              <a:buNone/>
            </a:pPr>
            <a:r>
              <a:rPr lang="en"/>
              <a:t>Purpose: Provides baseline morphing wing absent of </a:t>
            </a:r>
            <a:r>
              <a:rPr lang="en"/>
              <a:t>aerodynamics</a:t>
            </a:r>
            <a:r>
              <a:rPr lang="en"/>
              <a:t> effects (pure structural response)</a:t>
            </a:r>
            <a:endParaRPr/>
          </a:p>
        </p:txBody>
      </p:sp>
      <p:pic>
        <p:nvPicPr>
          <p:cNvPr id="93" name="Google Shape;93;p17"/>
          <p:cNvPicPr preferRelativeResize="0"/>
          <p:nvPr/>
        </p:nvPicPr>
        <p:blipFill>
          <a:blip r:embed="rId3">
            <a:alphaModFix/>
          </a:blip>
          <a:stretch>
            <a:fillRect/>
          </a:stretch>
        </p:blipFill>
        <p:spPr>
          <a:xfrm>
            <a:off x="5188275" y="2330050"/>
            <a:ext cx="3065625" cy="2546025"/>
          </a:xfrm>
          <a:prstGeom prst="rect">
            <a:avLst/>
          </a:prstGeom>
          <a:noFill/>
          <a:ln>
            <a:noFill/>
          </a:ln>
        </p:spPr>
      </p:pic>
      <p:pic>
        <p:nvPicPr>
          <p:cNvPr id="94" name="Google Shape;94;p17"/>
          <p:cNvPicPr preferRelativeResize="0"/>
          <p:nvPr/>
        </p:nvPicPr>
        <p:blipFill>
          <a:blip r:embed="rId4">
            <a:alphaModFix/>
          </a:blip>
          <a:stretch>
            <a:fillRect/>
          </a:stretch>
        </p:blipFill>
        <p:spPr>
          <a:xfrm>
            <a:off x="4269825" y="329025"/>
            <a:ext cx="2316249" cy="1923664"/>
          </a:xfrm>
          <a:prstGeom prst="rect">
            <a:avLst/>
          </a:prstGeom>
          <a:noFill/>
          <a:ln>
            <a:noFill/>
          </a:ln>
        </p:spPr>
      </p:pic>
      <p:pic>
        <p:nvPicPr>
          <p:cNvPr id="95" name="Google Shape;95;p17"/>
          <p:cNvPicPr preferRelativeResize="0"/>
          <p:nvPr/>
        </p:nvPicPr>
        <p:blipFill>
          <a:blip r:embed="rId5">
            <a:alphaModFix/>
          </a:blip>
          <a:stretch>
            <a:fillRect/>
          </a:stretch>
        </p:blipFill>
        <p:spPr>
          <a:xfrm>
            <a:off x="6673075" y="329025"/>
            <a:ext cx="2316249" cy="1923675"/>
          </a:xfrm>
          <a:prstGeom prst="rect">
            <a:avLst/>
          </a:prstGeom>
          <a:noFill/>
          <a:ln>
            <a:noFill/>
          </a:ln>
        </p:spPr>
      </p:pic>
      <p:pic>
        <p:nvPicPr>
          <p:cNvPr id="96" name="Google Shape;96;p17"/>
          <p:cNvPicPr preferRelativeResize="0"/>
          <p:nvPr/>
        </p:nvPicPr>
        <p:blipFill>
          <a:blip r:embed="rId6">
            <a:alphaModFix/>
          </a:blip>
          <a:stretch>
            <a:fillRect/>
          </a:stretch>
        </p:blipFill>
        <p:spPr>
          <a:xfrm>
            <a:off x="393935" y="1091175"/>
            <a:ext cx="3374998" cy="1766325"/>
          </a:xfrm>
          <a:prstGeom prst="rect">
            <a:avLst/>
          </a:prstGeom>
          <a:noFill/>
          <a:ln>
            <a:noFill/>
          </a:ln>
        </p:spPr>
      </p:pic>
      <p:sp>
        <p:nvSpPr>
          <p:cNvPr id="97" name="Google Shape;97;p17"/>
          <p:cNvSpPr/>
          <p:nvPr/>
        </p:nvSpPr>
        <p:spPr>
          <a:xfrm>
            <a:off x="393825" y="1351790"/>
            <a:ext cx="3375000" cy="244200"/>
          </a:xfrm>
          <a:prstGeom prst="rect">
            <a:avLst/>
          </a:prstGeom>
          <a:noFill/>
          <a:ln cap="flat" cmpd="sng" w="20975">
            <a:solidFill>
              <a:srgbClr val="FF0000"/>
            </a:solidFill>
            <a:prstDash val="solid"/>
            <a:round/>
            <a:headEnd len="sm" w="sm" type="none"/>
            <a:tailEnd len="sm" w="sm" type="none"/>
          </a:ln>
        </p:spPr>
        <p:txBody>
          <a:bodyPr anchorCtr="0" anchor="ctr" bIns="100650" lIns="100650" spcFirstLastPara="1" rIns="100650" wrap="square" tIns="100650">
            <a:noAutofit/>
          </a:bodyPr>
          <a:lstStyle/>
          <a:p>
            <a:pPr indent="0" lvl="0" marL="0" rtl="0" algn="ctr">
              <a:spcBef>
                <a:spcPts val="0"/>
              </a:spcBef>
              <a:spcAft>
                <a:spcPts val="0"/>
              </a:spcAft>
              <a:buNone/>
            </a:pPr>
            <a:r>
              <a:t/>
            </a:r>
            <a:endParaRPr sz="1541">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Baseline Morph – Case A</a:t>
            </a:r>
            <a:endParaRPr/>
          </a:p>
          <a:p>
            <a:pPr indent="0" lvl="0" marL="0" rtl="0" algn="l">
              <a:spcBef>
                <a:spcPts val="0"/>
              </a:spcBef>
              <a:spcAft>
                <a:spcPts val="0"/>
              </a:spcAft>
              <a:buNone/>
            </a:pPr>
            <a:r>
              <a:t/>
            </a:r>
            <a:endParaRPr/>
          </a:p>
        </p:txBody>
      </p:sp>
      <p:sp>
        <p:nvSpPr>
          <p:cNvPr id="103" name="Google Shape;103;p18"/>
          <p:cNvSpPr txBox="1"/>
          <p:nvPr>
            <p:ph idx="1" type="body"/>
          </p:nvPr>
        </p:nvSpPr>
        <p:spPr>
          <a:xfrm>
            <a:off x="311700" y="1152475"/>
            <a:ext cx="3597300" cy="3795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050">
                <a:solidFill>
                  <a:schemeClr val="lt2"/>
                </a:solidFill>
                <a:latin typeface="Courier New"/>
                <a:ea typeface="Courier New"/>
                <a:cs typeface="Courier New"/>
                <a:sym typeface="Courier New"/>
              </a:rPr>
              <a:t>Final Internal Energies:</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Stretching Energy: 0.000000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  • Bending Energy:    0.000059 J</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  • Total Energy:      0.000059 J</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Max Internal Energies During Simulation: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Stretching: 0.000000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Bending:    0.002640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Total:      0.002640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Final Tip Displacement:</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Δx = -0.096817 m</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Δy = -0.394540 m</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  • Total Tip Displacement = 0.406245 m</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Final Reaction Forces at Fixed Node:</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Drag (x): -0.0952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Lift (y): -22.0259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Weight: 2.6406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Net Lift Margin at Final Time: -19.3853 N</a:t>
            </a:r>
            <a:endParaRPr sz="1050">
              <a:solidFill>
                <a:srgbClr val="FFFF00"/>
              </a:solidFill>
              <a:latin typeface="Courier New"/>
              <a:ea typeface="Courier New"/>
              <a:cs typeface="Courier New"/>
              <a:sym typeface="Courier New"/>
            </a:endParaRPr>
          </a:p>
        </p:txBody>
      </p:sp>
      <p:pic>
        <p:nvPicPr>
          <p:cNvPr id="104" name="Google Shape;104;p18"/>
          <p:cNvPicPr preferRelativeResize="0"/>
          <p:nvPr/>
        </p:nvPicPr>
        <p:blipFill>
          <a:blip r:embed="rId3">
            <a:alphaModFix/>
          </a:blip>
          <a:stretch>
            <a:fillRect/>
          </a:stretch>
        </p:blipFill>
        <p:spPr>
          <a:xfrm>
            <a:off x="6047405" y="0"/>
            <a:ext cx="3096594" cy="2571750"/>
          </a:xfrm>
          <a:prstGeom prst="rect">
            <a:avLst/>
          </a:prstGeom>
          <a:noFill/>
          <a:ln>
            <a:noFill/>
          </a:ln>
        </p:spPr>
      </p:pic>
      <p:pic>
        <p:nvPicPr>
          <p:cNvPr id="105" name="Google Shape;105;p18"/>
          <p:cNvPicPr preferRelativeResize="0"/>
          <p:nvPr/>
        </p:nvPicPr>
        <p:blipFill>
          <a:blip r:embed="rId4">
            <a:alphaModFix/>
          </a:blip>
          <a:stretch>
            <a:fillRect/>
          </a:stretch>
        </p:blipFill>
        <p:spPr>
          <a:xfrm>
            <a:off x="4028350" y="2615425"/>
            <a:ext cx="3038825" cy="2528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Aerodynamic Loading – Case B</a:t>
            </a:r>
            <a:endParaRPr/>
          </a:p>
        </p:txBody>
      </p:sp>
      <p:sp>
        <p:nvSpPr>
          <p:cNvPr id="111" name="Google Shape;111;p19"/>
          <p:cNvSpPr txBox="1"/>
          <p:nvPr>
            <p:ph idx="1" type="body"/>
          </p:nvPr>
        </p:nvSpPr>
        <p:spPr>
          <a:xfrm>
            <a:off x="270650" y="3106725"/>
            <a:ext cx="4260300" cy="6480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400"/>
              <a:t>Purpose: Shows how aerodynamic drag resist morphing (aeroelastic coupling)</a:t>
            </a:r>
            <a:endParaRPr sz="1400"/>
          </a:p>
        </p:txBody>
      </p:sp>
      <p:pic>
        <p:nvPicPr>
          <p:cNvPr id="112" name="Google Shape;112;p19"/>
          <p:cNvPicPr preferRelativeResize="0"/>
          <p:nvPr/>
        </p:nvPicPr>
        <p:blipFill>
          <a:blip r:embed="rId3">
            <a:alphaModFix/>
          </a:blip>
          <a:stretch>
            <a:fillRect/>
          </a:stretch>
        </p:blipFill>
        <p:spPr>
          <a:xfrm>
            <a:off x="4724400" y="799775"/>
            <a:ext cx="4267200" cy="3543946"/>
          </a:xfrm>
          <a:prstGeom prst="rect">
            <a:avLst/>
          </a:prstGeom>
          <a:noFill/>
          <a:ln>
            <a:noFill/>
          </a:ln>
        </p:spPr>
      </p:pic>
      <p:pic>
        <p:nvPicPr>
          <p:cNvPr id="113" name="Google Shape;113;p19"/>
          <p:cNvPicPr preferRelativeResize="0"/>
          <p:nvPr/>
        </p:nvPicPr>
        <p:blipFill>
          <a:blip r:embed="rId4">
            <a:alphaModFix/>
          </a:blip>
          <a:stretch>
            <a:fillRect/>
          </a:stretch>
        </p:blipFill>
        <p:spPr>
          <a:xfrm>
            <a:off x="566360" y="1239425"/>
            <a:ext cx="3374998" cy="1766325"/>
          </a:xfrm>
          <a:prstGeom prst="rect">
            <a:avLst/>
          </a:prstGeom>
          <a:noFill/>
          <a:ln>
            <a:noFill/>
          </a:ln>
        </p:spPr>
      </p:pic>
      <p:sp>
        <p:nvSpPr>
          <p:cNvPr id="114" name="Google Shape;114;p19"/>
          <p:cNvSpPr/>
          <p:nvPr/>
        </p:nvSpPr>
        <p:spPr>
          <a:xfrm>
            <a:off x="566350" y="1779215"/>
            <a:ext cx="3375000" cy="244200"/>
          </a:xfrm>
          <a:prstGeom prst="rect">
            <a:avLst/>
          </a:prstGeom>
          <a:noFill/>
          <a:ln cap="flat" cmpd="sng" w="20975">
            <a:solidFill>
              <a:srgbClr val="FF0000"/>
            </a:solidFill>
            <a:prstDash val="solid"/>
            <a:round/>
            <a:headEnd len="sm" w="sm" type="none"/>
            <a:tailEnd len="sm" w="sm" type="none"/>
          </a:ln>
        </p:spPr>
        <p:txBody>
          <a:bodyPr anchorCtr="0" anchor="ctr" bIns="100650" lIns="100650" spcFirstLastPara="1" rIns="100650" wrap="square" tIns="100650">
            <a:noAutofit/>
          </a:bodyPr>
          <a:lstStyle/>
          <a:p>
            <a:pPr indent="0" lvl="0" marL="0" rtl="0" algn="ctr">
              <a:spcBef>
                <a:spcPts val="0"/>
              </a:spcBef>
              <a:spcAft>
                <a:spcPts val="0"/>
              </a:spcAft>
              <a:buNone/>
            </a:pPr>
            <a:r>
              <a:t/>
            </a:r>
            <a:endParaRPr sz="1541">
              <a:latin typeface="Average"/>
              <a:ea typeface="Average"/>
              <a:cs typeface="Average"/>
              <a:sym typeface="Averag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Aerodynamic Loading – Case B</a:t>
            </a:r>
            <a:endParaRPr/>
          </a:p>
          <a:p>
            <a:pPr indent="0" lvl="0" marL="0" rtl="0" algn="l">
              <a:spcBef>
                <a:spcPts val="0"/>
              </a:spcBef>
              <a:spcAft>
                <a:spcPts val="0"/>
              </a:spcAft>
              <a:buNone/>
            </a:pPr>
            <a:r>
              <a:t/>
            </a:r>
            <a:endParaRPr/>
          </a:p>
        </p:txBody>
      </p:sp>
      <p:sp>
        <p:nvSpPr>
          <p:cNvPr id="120" name="Google Shape;120;p20"/>
          <p:cNvSpPr txBox="1"/>
          <p:nvPr>
            <p:ph idx="1" type="body"/>
          </p:nvPr>
        </p:nvSpPr>
        <p:spPr>
          <a:xfrm>
            <a:off x="311700" y="1152475"/>
            <a:ext cx="3535800" cy="3816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050">
                <a:solidFill>
                  <a:schemeClr val="lt2"/>
                </a:solidFill>
                <a:latin typeface="Courier New"/>
                <a:ea typeface="Courier New"/>
                <a:cs typeface="Courier New"/>
                <a:sym typeface="Courier New"/>
              </a:rPr>
              <a:t>Final Internal Energies:</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Stretching Energy: 0.000000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a:t>
            </a:r>
            <a:r>
              <a:rPr lang="en" sz="1050">
                <a:solidFill>
                  <a:srgbClr val="FFFF00"/>
                </a:solidFill>
                <a:latin typeface="Courier New"/>
                <a:ea typeface="Courier New"/>
                <a:cs typeface="Courier New"/>
                <a:sym typeface="Courier New"/>
              </a:rPr>
              <a:t>Bending Energy:    0.000258 J</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  • Total Energy:      0.000258 J</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Max Internal Energies During Simulation: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Stretching: 0.000000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Bending:    0.002648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Total:      0.002649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Final Tip Displacement:</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Δx = -0.096882 m</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Δy = -0.394663 m</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  • Total Tip Displacement = 0.406380 m</a:t>
            </a:r>
            <a:endParaRPr sz="1100">
              <a:solidFill>
                <a:srgbClr val="FFFF00"/>
              </a:solidFill>
              <a:latin typeface="Arial"/>
              <a:ea typeface="Arial"/>
              <a:cs typeface="Arial"/>
              <a:sym typeface="Arial"/>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827">
              <a:solidFill>
                <a:schemeClr val="lt2"/>
              </a:solidFill>
            </a:endParaRPr>
          </a:p>
          <a:p>
            <a:pPr indent="0" lvl="0" marL="0" rtl="0" algn="l">
              <a:spcBef>
                <a:spcPts val="1200"/>
              </a:spcBef>
              <a:spcAft>
                <a:spcPts val="0"/>
              </a:spcAft>
              <a:buNone/>
            </a:pPr>
            <a:r>
              <a:rPr lang="en" sz="1050">
                <a:solidFill>
                  <a:schemeClr val="lt2"/>
                </a:solidFill>
                <a:latin typeface="Courier New"/>
                <a:ea typeface="Courier New"/>
                <a:cs typeface="Courier New"/>
                <a:sym typeface="Courier New"/>
              </a:rPr>
              <a:t>Final Reaction Forces at Fixed Node:</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Drag (x): +0.1357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Lift (y): -41.9909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Weight: 2.6406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Net Lift Margin at Final Time: -39.3503 N</a:t>
            </a:r>
            <a:endParaRPr>
              <a:solidFill>
                <a:srgbClr val="FFFF00"/>
              </a:solidFill>
            </a:endParaRPr>
          </a:p>
        </p:txBody>
      </p:sp>
      <p:pic>
        <p:nvPicPr>
          <p:cNvPr id="121" name="Google Shape;121;p20"/>
          <p:cNvPicPr preferRelativeResize="0"/>
          <p:nvPr/>
        </p:nvPicPr>
        <p:blipFill>
          <a:blip r:embed="rId3">
            <a:alphaModFix/>
          </a:blip>
          <a:stretch>
            <a:fillRect/>
          </a:stretch>
        </p:blipFill>
        <p:spPr>
          <a:xfrm>
            <a:off x="6136925" y="0"/>
            <a:ext cx="3007075" cy="2497405"/>
          </a:xfrm>
          <a:prstGeom prst="rect">
            <a:avLst/>
          </a:prstGeom>
          <a:noFill/>
          <a:ln>
            <a:noFill/>
          </a:ln>
        </p:spPr>
      </p:pic>
      <p:pic>
        <p:nvPicPr>
          <p:cNvPr id="122" name="Google Shape;122;p20"/>
          <p:cNvPicPr preferRelativeResize="0"/>
          <p:nvPr/>
        </p:nvPicPr>
        <p:blipFill>
          <a:blip r:embed="rId4">
            <a:alphaModFix/>
          </a:blip>
          <a:stretch>
            <a:fillRect/>
          </a:stretch>
        </p:blipFill>
        <p:spPr>
          <a:xfrm>
            <a:off x="3948475" y="2571750"/>
            <a:ext cx="3091337" cy="2571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Kappa</a:t>
            </a:r>
            <a:r>
              <a:rPr lang="en"/>
              <a:t> Profile Variation – Case D</a:t>
            </a:r>
            <a:endParaRPr/>
          </a:p>
        </p:txBody>
      </p:sp>
      <p:sp>
        <p:nvSpPr>
          <p:cNvPr id="128" name="Google Shape;128;p21"/>
          <p:cNvSpPr txBox="1"/>
          <p:nvPr>
            <p:ph idx="1" type="body"/>
          </p:nvPr>
        </p:nvSpPr>
        <p:spPr>
          <a:xfrm>
            <a:off x="311700" y="3048325"/>
            <a:ext cx="4260300" cy="369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200"/>
              <a:t>Shows a more biologically inspired curvature profile</a:t>
            </a:r>
            <a:endParaRPr sz="1200"/>
          </a:p>
        </p:txBody>
      </p:sp>
      <p:pic>
        <p:nvPicPr>
          <p:cNvPr id="129" name="Google Shape;129;p21"/>
          <p:cNvPicPr preferRelativeResize="0"/>
          <p:nvPr/>
        </p:nvPicPr>
        <p:blipFill>
          <a:blip r:embed="rId3">
            <a:alphaModFix/>
          </a:blip>
          <a:stretch>
            <a:fillRect/>
          </a:stretch>
        </p:blipFill>
        <p:spPr>
          <a:xfrm>
            <a:off x="4852575" y="2528891"/>
            <a:ext cx="2990526" cy="2483634"/>
          </a:xfrm>
          <a:prstGeom prst="rect">
            <a:avLst/>
          </a:prstGeom>
          <a:noFill/>
          <a:ln>
            <a:noFill/>
          </a:ln>
        </p:spPr>
      </p:pic>
      <p:pic>
        <p:nvPicPr>
          <p:cNvPr id="130" name="Google Shape;130;p21"/>
          <p:cNvPicPr preferRelativeResize="0"/>
          <p:nvPr/>
        </p:nvPicPr>
        <p:blipFill>
          <a:blip r:embed="rId4">
            <a:alphaModFix/>
          </a:blip>
          <a:stretch>
            <a:fillRect/>
          </a:stretch>
        </p:blipFill>
        <p:spPr>
          <a:xfrm>
            <a:off x="336086" y="1017725"/>
            <a:ext cx="3641314" cy="1905699"/>
          </a:xfrm>
          <a:prstGeom prst="rect">
            <a:avLst/>
          </a:prstGeom>
          <a:noFill/>
          <a:ln>
            <a:noFill/>
          </a:ln>
        </p:spPr>
      </p:pic>
      <p:sp>
        <p:nvSpPr>
          <p:cNvPr id="131" name="Google Shape;131;p21"/>
          <p:cNvSpPr/>
          <p:nvPr/>
        </p:nvSpPr>
        <p:spPr>
          <a:xfrm>
            <a:off x="336075" y="1901317"/>
            <a:ext cx="3641400" cy="263400"/>
          </a:xfrm>
          <a:prstGeom prst="rect">
            <a:avLst/>
          </a:prstGeom>
          <a:noFill/>
          <a:ln cap="flat" cmpd="sng" w="22600">
            <a:solidFill>
              <a:srgbClr val="FF0000"/>
            </a:solidFill>
            <a:prstDash val="solid"/>
            <a:round/>
            <a:headEnd len="sm" w="sm" type="none"/>
            <a:tailEnd len="sm" w="sm" type="none"/>
          </a:ln>
        </p:spPr>
        <p:txBody>
          <a:bodyPr anchorCtr="0" anchor="ctr" bIns="108575" lIns="108575" spcFirstLastPara="1" rIns="108575" wrap="square" tIns="108575">
            <a:noAutofit/>
          </a:bodyPr>
          <a:lstStyle/>
          <a:p>
            <a:pPr indent="0" lvl="0" marL="0" rtl="0" algn="ctr">
              <a:spcBef>
                <a:spcPts val="0"/>
              </a:spcBef>
              <a:spcAft>
                <a:spcPts val="0"/>
              </a:spcAft>
              <a:buNone/>
            </a:pPr>
            <a:r>
              <a:t/>
            </a:r>
            <a:endParaRPr sz="1662">
              <a:latin typeface="Average"/>
              <a:ea typeface="Average"/>
              <a:cs typeface="Average"/>
              <a:sym typeface="Average"/>
            </a:endParaRPr>
          </a:p>
        </p:txBody>
      </p:sp>
      <p:pic>
        <p:nvPicPr>
          <p:cNvPr id="132" name="Google Shape;132;p21"/>
          <p:cNvPicPr preferRelativeResize="0"/>
          <p:nvPr/>
        </p:nvPicPr>
        <p:blipFill>
          <a:blip r:embed="rId5">
            <a:alphaModFix/>
          </a:blip>
          <a:stretch>
            <a:fillRect/>
          </a:stretch>
        </p:blipFill>
        <p:spPr>
          <a:xfrm>
            <a:off x="6551823" y="338125"/>
            <a:ext cx="2474062" cy="2054700"/>
          </a:xfrm>
          <a:prstGeom prst="rect">
            <a:avLst/>
          </a:prstGeom>
          <a:noFill/>
          <a:ln>
            <a:noFill/>
          </a:ln>
        </p:spPr>
      </p:pic>
      <p:pic>
        <p:nvPicPr>
          <p:cNvPr id="133" name="Google Shape;133;p21"/>
          <p:cNvPicPr preferRelativeResize="0"/>
          <p:nvPr/>
        </p:nvPicPr>
        <p:blipFill>
          <a:blip r:embed="rId6">
            <a:alphaModFix/>
          </a:blip>
          <a:stretch>
            <a:fillRect/>
          </a:stretch>
        </p:blipFill>
        <p:spPr>
          <a:xfrm>
            <a:off x="4572000" y="601975"/>
            <a:ext cx="1838649" cy="1527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Kappa</a:t>
            </a:r>
            <a:r>
              <a:rPr lang="en"/>
              <a:t> Profile Variation – Case D</a:t>
            </a:r>
            <a:endParaRPr/>
          </a:p>
          <a:p>
            <a:pPr indent="0" lvl="0" marL="0" rtl="0" algn="l">
              <a:spcBef>
                <a:spcPts val="0"/>
              </a:spcBef>
              <a:spcAft>
                <a:spcPts val="0"/>
              </a:spcAft>
              <a:buNone/>
            </a:pPr>
            <a:r>
              <a:t/>
            </a:r>
            <a:endParaRPr/>
          </a:p>
        </p:txBody>
      </p:sp>
      <p:sp>
        <p:nvSpPr>
          <p:cNvPr id="139" name="Google Shape;139;p22"/>
          <p:cNvSpPr txBox="1"/>
          <p:nvPr>
            <p:ph idx="1" type="body"/>
          </p:nvPr>
        </p:nvSpPr>
        <p:spPr>
          <a:xfrm>
            <a:off x="311700" y="1152475"/>
            <a:ext cx="3576900" cy="3785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050">
                <a:solidFill>
                  <a:schemeClr val="lt2"/>
                </a:solidFill>
                <a:latin typeface="Courier New"/>
                <a:ea typeface="Courier New"/>
                <a:cs typeface="Courier New"/>
                <a:sym typeface="Courier New"/>
              </a:rPr>
              <a:t>Final Internal Energies:</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Stretching Energy: 0.000000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a:t>
            </a:r>
            <a:r>
              <a:rPr lang="en" sz="1050">
                <a:solidFill>
                  <a:srgbClr val="FFFF00"/>
                </a:solidFill>
                <a:latin typeface="Courier New"/>
                <a:ea typeface="Courier New"/>
                <a:cs typeface="Courier New"/>
                <a:sym typeface="Courier New"/>
              </a:rPr>
              <a:t>Bending Energy:    0.000276 J</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  • Total Energy:      0.000276 J</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Max Internal Energies During Simulation: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Stretching: 0.000000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Bending:    0.003256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Total:      0.003257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Final Tip Displacement:</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Δx = -0.148528 m</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Δy = -0.443097 m</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  • Total Tip Displacement = 0.467328 m</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Final Reaction Forces at Fixed Node:</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Drag (x): +0.2889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Lift (y): -41.1904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Weight: 2.6406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Net Lift Margin at Final Time: -38.5498 N</a:t>
            </a:r>
            <a:endParaRPr sz="1050">
              <a:solidFill>
                <a:srgbClr val="FFFF00"/>
              </a:solidFill>
              <a:latin typeface="Courier New"/>
              <a:ea typeface="Courier New"/>
              <a:cs typeface="Courier New"/>
              <a:sym typeface="Courier New"/>
            </a:endParaRPr>
          </a:p>
        </p:txBody>
      </p:sp>
      <p:pic>
        <p:nvPicPr>
          <p:cNvPr id="140" name="Google Shape;140;p22"/>
          <p:cNvPicPr preferRelativeResize="0"/>
          <p:nvPr/>
        </p:nvPicPr>
        <p:blipFill>
          <a:blip r:embed="rId3">
            <a:alphaModFix/>
          </a:blip>
          <a:stretch>
            <a:fillRect/>
          </a:stretch>
        </p:blipFill>
        <p:spPr>
          <a:xfrm>
            <a:off x="6047408" y="0"/>
            <a:ext cx="3096591" cy="2571750"/>
          </a:xfrm>
          <a:prstGeom prst="rect">
            <a:avLst/>
          </a:prstGeom>
          <a:noFill/>
          <a:ln>
            <a:noFill/>
          </a:ln>
        </p:spPr>
      </p:pic>
      <p:pic>
        <p:nvPicPr>
          <p:cNvPr id="141" name="Google Shape;141;p22"/>
          <p:cNvPicPr preferRelativeResize="0"/>
          <p:nvPr/>
        </p:nvPicPr>
        <p:blipFill>
          <a:blip r:embed="rId4">
            <a:alphaModFix/>
          </a:blip>
          <a:stretch>
            <a:fillRect/>
          </a:stretch>
        </p:blipFill>
        <p:spPr>
          <a:xfrm>
            <a:off x="4073650" y="2618925"/>
            <a:ext cx="3034675" cy="25245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 Softening Effect – Case E</a:t>
            </a:r>
            <a:endParaRPr/>
          </a:p>
        </p:txBody>
      </p:sp>
      <p:sp>
        <p:nvSpPr>
          <p:cNvPr id="147" name="Google Shape;147;p23"/>
          <p:cNvSpPr txBox="1"/>
          <p:nvPr>
            <p:ph idx="1" type="body"/>
          </p:nvPr>
        </p:nvSpPr>
        <p:spPr>
          <a:xfrm>
            <a:off x="385425" y="3443650"/>
            <a:ext cx="3508800" cy="1129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SzPts val="1018"/>
              <a:buNone/>
            </a:pPr>
            <a:r>
              <a:rPr lang="en" sz="1265"/>
              <a:t>Purpose: Does a flexible tip amplifies wing bending under load or decrease bending energy</a:t>
            </a:r>
            <a:endParaRPr sz="1265"/>
          </a:p>
        </p:txBody>
      </p:sp>
      <p:pic>
        <p:nvPicPr>
          <p:cNvPr id="148" name="Google Shape;148;p23"/>
          <p:cNvPicPr preferRelativeResize="0"/>
          <p:nvPr/>
        </p:nvPicPr>
        <p:blipFill>
          <a:blip r:embed="rId3">
            <a:alphaModFix/>
          </a:blip>
          <a:stretch>
            <a:fillRect/>
          </a:stretch>
        </p:blipFill>
        <p:spPr>
          <a:xfrm>
            <a:off x="4798550" y="2459750"/>
            <a:ext cx="3087225" cy="2563975"/>
          </a:xfrm>
          <a:prstGeom prst="rect">
            <a:avLst/>
          </a:prstGeom>
          <a:noFill/>
          <a:ln>
            <a:noFill/>
          </a:ln>
        </p:spPr>
      </p:pic>
      <p:pic>
        <p:nvPicPr>
          <p:cNvPr id="149" name="Google Shape;149;p23"/>
          <p:cNvPicPr preferRelativeResize="0"/>
          <p:nvPr/>
        </p:nvPicPr>
        <p:blipFill>
          <a:blip r:embed="rId4">
            <a:alphaModFix/>
          </a:blip>
          <a:stretch>
            <a:fillRect/>
          </a:stretch>
        </p:blipFill>
        <p:spPr>
          <a:xfrm>
            <a:off x="377508" y="1475125"/>
            <a:ext cx="3524371" cy="1844500"/>
          </a:xfrm>
          <a:prstGeom prst="rect">
            <a:avLst/>
          </a:prstGeom>
          <a:noFill/>
          <a:ln>
            <a:noFill/>
          </a:ln>
        </p:spPr>
      </p:pic>
      <p:sp>
        <p:nvSpPr>
          <p:cNvPr id="150" name="Google Shape;150;p23"/>
          <p:cNvSpPr/>
          <p:nvPr/>
        </p:nvSpPr>
        <p:spPr>
          <a:xfrm>
            <a:off x="377475" y="2680469"/>
            <a:ext cx="3524700" cy="254700"/>
          </a:xfrm>
          <a:prstGeom prst="rect">
            <a:avLst/>
          </a:prstGeom>
          <a:noFill/>
          <a:ln cap="flat" cmpd="sng" w="21900">
            <a:solidFill>
              <a:srgbClr val="FF0000"/>
            </a:solidFill>
            <a:prstDash val="solid"/>
            <a:round/>
            <a:headEnd len="sm" w="sm" type="none"/>
            <a:tailEnd len="sm" w="sm" type="none"/>
          </a:ln>
        </p:spPr>
        <p:txBody>
          <a:bodyPr anchorCtr="0" anchor="ctr" bIns="105125" lIns="105125" spcFirstLastPara="1" rIns="105125" wrap="square" tIns="105125">
            <a:noAutofit/>
          </a:bodyPr>
          <a:lstStyle/>
          <a:p>
            <a:pPr indent="0" lvl="0" marL="0" rtl="0" algn="ctr">
              <a:spcBef>
                <a:spcPts val="0"/>
              </a:spcBef>
              <a:spcAft>
                <a:spcPts val="0"/>
              </a:spcAft>
              <a:buNone/>
            </a:pPr>
            <a:r>
              <a:t/>
            </a:r>
            <a:endParaRPr sz="1609">
              <a:latin typeface="Average"/>
              <a:ea typeface="Average"/>
              <a:cs typeface="Average"/>
              <a:sym typeface="Average"/>
            </a:endParaRPr>
          </a:p>
        </p:txBody>
      </p:sp>
      <p:pic>
        <p:nvPicPr>
          <p:cNvPr id="151" name="Google Shape;151;p23"/>
          <p:cNvPicPr preferRelativeResize="0"/>
          <p:nvPr/>
        </p:nvPicPr>
        <p:blipFill>
          <a:blip r:embed="rId5">
            <a:alphaModFix/>
          </a:blip>
          <a:stretch>
            <a:fillRect/>
          </a:stretch>
        </p:blipFill>
        <p:spPr>
          <a:xfrm>
            <a:off x="4218575" y="417200"/>
            <a:ext cx="2316250" cy="1923663"/>
          </a:xfrm>
          <a:prstGeom prst="rect">
            <a:avLst/>
          </a:prstGeom>
          <a:noFill/>
          <a:ln>
            <a:noFill/>
          </a:ln>
        </p:spPr>
      </p:pic>
      <p:pic>
        <p:nvPicPr>
          <p:cNvPr id="152" name="Google Shape;152;p23"/>
          <p:cNvPicPr preferRelativeResize="0"/>
          <p:nvPr/>
        </p:nvPicPr>
        <p:blipFill>
          <a:blip r:embed="rId6">
            <a:alphaModFix/>
          </a:blip>
          <a:stretch>
            <a:fillRect/>
          </a:stretch>
        </p:blipFill>
        <p:spPr>
          <a:xfrm>
            <a:off x="6660300" y="417200"/>
            <a:ext cx="2316249" cy="1923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 Softening Effect – Case E</a:t>
            </a:r>
            <a:endParaRPr/>
          </a:p>
          <a:p>
            <a:pPr indent="0" lvl="0" marL="0" rtl="0" algn="l">
              <a:spcBef>
                <a:spcPts val="0"/>
              </a:spcBef>
              <a:spcAft>
                <a:spcPts val="0"/>
              </a:spcAft>
              <a:buNone/>
            </a:pPr>
            <a:r>
              <a:t/>
            </a:r>
            <a:endParaRPr/>
          </a:p>
        </p:txBody>
      </p:sp>
      <p:sp>
        <p:nvSpPr>
          <p:cNvPr id="158" name="Google Shape;158;p24"/>
          <p:cNvSpPr txBox="1"/>
          <p:nvPr>
            <p:ph idx="1" type="body"/>
          </p:nvPr>
        </p:nvSpPr>
        <p:spPr>
          <a:xfrm>
            <a:off x="311700" y="1152475"/>
            <a:ext cx="3967800" cy="3795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050">
                <a:solidFill>
                  <a:schemeClr val="lt2"/>
                </a:solidFill>
                <a:latin typeface="Courier New"/>
                <a:ea typeface="Courier New"/>
                <a:cs typeface="Courier New"/>
                <a:sym typeface="Courier New"/>
              </a:rPr>
              <a:t>Final Internal Energies:</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Stretching Energy: 0.000000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a:t>
            </a:r>
            <a:r>
              <a:rPr lang="en" sz="1050">
                <a:solidFill>
                  <a:srgbClr val="FFFF00"/>
                </a:solidFill>
                <a:latin typeface="Courier New"/>
                <a:ea typeface="Courier New"/>
                <a:cs typeface="Courier New"/>
                <a:sym typeface="Courier New"/>
              </a:rPr>
              <a:t>Bending Energy:    0.000271 J</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  • Total Energy:      0.000271 J</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Max Internal Energies During Simulation: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Stretching: 0.000000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Bending:    0.002653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Total:      0.002653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Final Tip Displacement:</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Δx = -0.096891 m</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Δy = -0.394677 m</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a:t>
            </a:r>
            <a:r>
              <a:rPr lang="en" sz="1050">
                <a:solidFill>
                  <a:srgbClr val="FFFF00"/>
                </a:solidFill>
                <a:latin typeface="Courier New"/>
                <a:ea typeface="Courier New"/>
                <a:cs typeface="Courier New"/>
                <a:sym typeface="Courier New"/>
              </a:rPr>
              <a:t>Total Tip Displacement = 0.406397 m</a:t>
            </a:r>
            <a:endParaRPr sz="1100">
              <a:solidFill>
                <a:srgbClr val="FFFF00"/>
              </a:solidFill>
              <a:latin typeface="Arial"/>
              <a:ea typeface="Arial"/>
              <a:cs typeface="Arial"/>
              <a:sym typeface="Arial"/>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Final Reaction Forces at Fixed Node:</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Drag (x): +0.1357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Lift (y): -41.9913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Weight: 2.6406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Net Lift Margin at Final Time: -39.3508 N</a:t>
            </a:r>
            <a:endParaRPr sz="1050">
              <a:solidFill>
                <a:srgbClr val="FFFF00"/>
              </a:solidFill>
              <a:latin typeface="Courier New"/>
              <a:ea typeface="Courier New"/>
              <a:cs typeface="Courier New"/>
              <a:sym typeface="Courier New"/>
            </a:endParaRPr>
          </a:p>
        </p:txBody>
      </p:sp>
      <p:pic>
        <p:nvPicPr>
          <p:cNvPr id="159" name="Google Shape;159;p24"/>
          <p:cNvPicPr preferRelativeResize="0"/>
          <p:nvPr/>
        </p:nvPicPr>
        <p:blipFill>
          <a:blip r:embed="rId3">
            <a:alphaModFix/>
          </a:blip>
          <a:stretch>
            <a:fillRect/>
          </a:stretch>
        </p:blipFill>
        <p:spPr>
          <a:xfrm>
            <a:off x="6134100" y="0"/>
            <a:ext cx="3009900" cy="2499750"/>
          </a:xfrm>
          <a:prstGeom prst="rect">
            <a:avLst/>
          </a:prstGeom>
          <a:noFill/>
          <a:ln>
            <a:noFill/>
          </a:ln>
        </p:spPr>
      </p:pic>
      <p:pic>
        <p:nvPicPr>
          <p:cNvPr id="160" name="Google Shape;160;p24"/>
          <p:cNvPicPr preferRelativeResize="0"/>
          <p:nvPr/>
        </p:nvPicPr>
        <p:blipFill>
          <a:blip r:embed="rId4">
            <a:alphaModFix/>
          </a:blip>
          <a:stretch>
            <a:fillRect/>
          </a:stretch>
        </p:blipFill>
        <p:spPr>
          <a:xfrm>
            <a:off x="4279500" y="2639519"/>
            <a:ext cx="3009900" cy="250398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Tapered Stiffness – Case H</a:t>
            </a:r>
            <a:endParaRPr/>
          </a:p>
        </p:txBody>
      </p:sp>
      <p:sp>
        <p:nvSpPr>
          <p:cNvPr id="166" name="Google Shape;166;p25"/>
          <p:cNvSpPr txBox="1"/>
          <p:nvPr>
            <p:ph idx="1" type="body"/>
          </p:nvPr>
        </p:nvSpPr>
        <p:spPr>
          <a:xfrm>
            <a:off x="311700" y="1152475"/>
            <a:ext cx="4260300" cy="3785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More realistic EI distribution for aircraft wings (linear taper)</a:t>
            </a:r>
            <a:endParaRPr/>
          </a:p>
          <a:p>
            <a:pPr indent="0" lvl="0" marL="0" rtl="0" algn="l">
              <a:spcBef>
                <a:spcPts val="1200"/>
              </a:spcBef>
              <a:spcAft>
                <a:spcPts val="0"/>
              </a:spcAft>
              <a:buNone/>
            </a:pPr>
            <a:r>
              <a:rPr lang="en"/>
              <a:t>Setup:</a:t>
            </a:r>
            <a:endParaRPr/>
          </a:p>
          <a:p>
            <a:pPr indent="-342900" lvl="0" marL="457200" rtl="0" algn="l">
              <a:spcBef>
                <a:spcPts val="1200"/>
              </a:spcBef>
              <a:spcAft>
                <a:spcPts val="0"/>
              </a:spcAft>
              <a:buSzPts val="1800"/>
              <a:buChar char="●"/>
            </a:pPr>
            <a:r>
              <a:rPr lang="en"/>
              <a:t>Kappa set to -0.10</a:t>
            </a:r>
            <a:endParaRPr/>
          </a:p>
          <a:p>
            <a:pPr indent="-342900" lvl="0" marL="457200" rtl="0" algn="l">
              <a:spcBef>
                <a:spcPts val="0"/>
              </a:spcBef>
              <a:spcAft>
                <a:spcPts val="0"/>
              </a:spcAft>
              <a:buSzPts val="1800"/>
              <a:buChar char="●"/>
            </a:pPr>
            <a:r>
              <a:rPr lang="en"/>
              <a:t>Linear camber profile</a:t>
            </a:r>
            <a:endParaRPr/>
          </a:p>
          <a:p>
            <a:pPr indent="-342900" lvl="0" marL="457200" rtl="0" algn="l">
              <a:spcBef>
                <a:spcPts val="0"/>
              </a:spcBef>
              <a:spcAft>
                <a:spcPts val="0"/>
              </a:spcAft>
              <a:buSzPts val="1800"/>
              <a:buChar char="●"/>
            </a:pPr>
            <a:r>
              <a:rPr lang="en"/>
              <a:t>Linear transition</a:t>
            </a:r>
            <a:endParaRPr/>
          </a:p>
          <a:p>
            <a:pPr indent="-342900" lvl="0" marL="457200" rtl="0" algn="l">
              <a:spcBef>
                <a:spcPts val="0"/>
              </a:spcBef>
              <a:spcAft>
                <a:spcPts val="0"/>
              </a:spcAft>
              <a:buSzPts val="1800"/>
              <a:buChar char="●"/>
            </a:pPr>
            <a:r>
              <a:rPr lang="en"/>
              <a:t>High Reynolds drag model</a:t>
            </a:r>
            <a:endParaRPr/>
          </a:p>
          <a:p>
            <a:pPr indent="-342900" lvl="0" marL="457200" rtl="0" algn="l">
              <a:spcBef>
                <a:spcPts val="0"/>
              </a:spcBef>
              <a:spcAft>
                <a:spcPts val="0"/>
              </a:spcAft>
              <a:buSzPts val="1800"/>
              <a:buChar char="●"/>
            </a:pPr>
            <a:r>
              <a:rPr lang="en"/>
              <a:t>20 m/s airflow from left to observe drag resistance</a:t>
            </a:r>
            <a:endParaRPr/>
          </a:p>
          <a:p>
            <a:pPr indent="0" lvl="0" marL="0" rtl="0" algn="l">
              <a:spcBef>
                <a:spcPts val="1200"/>
              </a:spcBef>
              <a:spcAft>
                <a:spcPts val="1200"/>
              </a:spcAft>
              <a:buNone/>
            </a:pPr>
            <a:r>
              <a:rPr lang="en"/>
              <a:t>Purpose: Mimics real aircraft wings with tapered stiffness</a:t>
            </a:r>
            <a:endParaRPr/>
          </a:p>
        </p:txBody>
      </p:sp>
      <p:pic>
        <p:nvPicPr>
          <p:cNvPr id="167" name="Google Shape;167;p25"/>
          <p:cNvPicPr preferRelativeResize="0"/>
          <p:nvPr/>
        </p:nvPicPr>
        <p:blipFill>
          <a:blip r:embed="rId3">
            <a:alphaModFix/>
          </a:blip>
          <a:stretch>
            <a:fillRect/>
          </a:stretch>
        </p:blipFill>
        <p:spPr>
          <a:xfrm>
            <a:off x="5172275" y="2252850"/>
            <a:ext cx="3232974" cy="2685025"/>
          </a:xfrm>
          <a:prstGeom prst="rect">
            <a:avLst/>
          </a:prstGeom>
          <a:noFill/>
          <a:ln>
            <a:noFill/>
          </a:ln>
        </p:spPr>
      </p:pic>
      <p:pic>
        <p:nvPicPr>
          <p:cNvPr id="168" name="Google Shape;168;p25"/>
          <p:cNvPicPr preferRelativeResize="0"/>
          <p:nvPr/>
        </p:nvPicPr>
        <p:blipFill>
          <a:blip r:embed="rId4">
            <a:alphaModFix/>
          </a:blip>
          <a:stretch>
            <a:fillRect/>
          </a:stretch>
        </p:blipFill>
        <p:spPr>
          <a:xfrm>
            <a:off x="4504163" y="153793"/>
            <a:ext cx="2242550" cy="1862469"/>
          </a:xfrm>
          <a:prstGeom prst="rect">
            <a:avLst/>
          </a:prstGeom>
          <a:noFill/>
          <a:ln>
            <a:noFill/>
          </a:ln>
        </p:spPr>
      </p:pic>
      <p:pic>
        <p:nvPicPr>
          <p:cNvPr id="169" name="Google Shape;169;p25"/>
          <p:cNvPicPr preferRelativeResize="0"/>
          <p:nvPr/>
        </p:nvPicPr>
        <p:blipFill>
          <a:blip r:embed="rId5">
            <a:alphaModFix/>
          </a:blip>
          <a:stretch>
            <a:fillRect/>
          </a:stretch>
        </p:blipFill>
        <p:spPr>
          <a:xfrm>
            <a:off x="6834750" y="153800"/>
            <a:ext cx="2242550" cy="1862450"/>
          </a:xfrm>
          <a:prstGeom prst="rect">
            <a:avLst/>
          </a:prstGeom>
          <a:noFill/>
          <a:ln>
            <a:noFill/>
          </a:ln>
        </p:spPr>
      </p:pic>
      <p:pic>
        <p:nvPicPr>
          <p:cNvPr id="170" name="Google Shape;170;p25"/>
          <p:cNvPicPr preferRelativeResize="0"/>
          <p:nvPr/>
        </p:nvPicPr>
        <p:blipFill>
          <a:blip r:embed="rId6">
            <a:alphaModFix/>
          </a:blip>
          <a:stretch>
            <a:fillRect/>
          </a:stretch>
        </p:blipFill>
        <p:spPr>
          <a:xfrm>
            <a:off x="359613" y="1893878"/>
            <a:ext cx="4056515" cy="2123001"/>
          </a:xfrm>
          <a:prstGeom prst="rect">
            <a:avLst/>
          </a:prstGeom>
          <a:noFill/>
          <a:ln>
            <a:noFill/>
          </a:ln>
        </p:spPr>
      </p:pic>
      <p:sp>
        <p:nvSpPr>
          <p:cNvPr id="171" name="Google Shape;171;p25"/>
          <p:cNvSpPr/>
          <p:nvPr/>
        </p:nvSpPr>
        <p:spPr>
          <a:xfrm>
            <a:off x="359575" y="3626091"/>
            <a:ext cx="4056600" cy="293400"/>
          </a:xfrm>
          <a:prstGeom prst="rect">
            <a:avLst/>
          </a:prstGeom>
          <a:noFill/>
          <a:ln cap="flat" cmpd="sng" w="25200">
            <a:solidFill>
              <a:srgbClr val="FF0000"/>
            </a:solidFill>
            <a:prstDash val="solid"/>
            <a:round/>
            <a:headEnd len="sm" w="sm" type="none"/>
            <a:tailEnd len="sm" w="sm" type="none"/>
          </a:ln>
        </p:spPr>
        <p:txBody>
          <a:bodyPr anchorCtr="0" anchor="ctr" bIns="120975" lIns="120975" spcFirstLastPara="1" rIns="120975" wrap="square" tIns="120975">
            <a:noAutofit/>
          </a:bodyPr>
          <a:lstStyle/>
          <a:p>
            <a:pPr indent="0" lvl="0" marL="0" rtl="0" algn="ctr">
              <a:spcBef>
                <a:spcPts val="0"/>
              </a:spcBef>
              <a:spcAft>
                <a:spcPts val="0"/>
              </a:spcAft>
              <a:buNone/>
            </a:pPr>
            <a:r>
              <a:t/>
            </a:r>
            <a:endParaRPr sz="1852">
              <a:latin typeface="Average"/>
              <a:ea typeface="Average"/>
              <a:cs typeface="Average"/>
              <a:sym typeface="Averag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Tapered Stiffness – Case H</a:t>
            </a:r>
            <a:endParaRPr/>
          </a:p>
          <a:p>
            <a:pPr indent="0" lvl="0" marL="0" rtl="0" algn="l">
              <a:spcBef>
                <a:spcPts val="0"/>
              </a:spcBef>
              <a:spcAft>
                <a:spcPts val="0"/>
              </a:spcAft>
              <a:buNone/>
            </a:pPr>
            <a:r>
              <a:t/>
            </a:r>
            <a:endParaRPr/>
          </a:p>
        </p:txBody>
      </p:sp>
      <p:sp>
        <p:nvSpPr>
          <p:cNvPr id="177" name="Google Shape;177;p26"/>
          <p:cNvSpPr txBox="1"/>
          <p:nvPr>
            <p:ph idx="1" type="body"/>
          </p:nvPr>
        </p:nvSpPr>
        <p:spPr>
          <a:xfrm>
            <a:off x="311700" y="1152475"/>
            <a:ext cx="3587100" cy="3795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050">
                <a:solidFill>
                  <a:schemeClr val="lt2"/>
                </a:solidFill>
                <a:latin typeface="Courier New"/>
                <a:ea typeface="Courier New"/>
                <a:cs typeface="Courier New"/>
                <a:sym typeface="Courier New"/>
              </a:rPr>
              <a:t>Final Internal Energies:</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Stretching Energy: 0.000000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a:t>
            </a:r>
            <a:r>
              <a:rPr lang="en" sz="1050">
                <a:solidFill>
                  <a:srgbClr val="FFFF00"/>
                </a:solidFill>
                <a:latin typeface="Courier New"/>
                <a:ea typeface="Courier New"/>
                <a:cs typeface="Courier New"/>
                <a:sym typeface="Courier New"/>
              </a:rPr>
              <a:t>Bending Energy:    0.000375 J</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  • Total Energy:      0.000375 J</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t/>
            </a:r>
            <a:endParaRPr sz="1050">
              <a:solidFill>
                <a:srgbClr val="FFFF00"/>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Max Internal Energies During Simulation: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Stretching: 0.000000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Bending:    0.006312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Max Total:      0.006312 J</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Final Tip Displacement:</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Δx = -0.224082 m</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Δy = -0.559252 m</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a:t>
            </a:r>
            <a:r>
              <a:rPr lang="en" sz="1050">
                <a:solidFill>
                  <a:srgbClr val="FFFF00"/>
                </a:solidFill>
                <a:latin typeface="Courier New"/>
                <a:ea typeface="Courier New"/>
                <a:cs typeface="Courier New"/>
                <a:sym typeface="Courier New"/>
              </a:rPr>
              <a:t>Total Tip Displacement = 0.602474 m</a:t>
            </a:r>
            <a:endParaRPr sz="1100">
              <a:solidFill>
                <a:srgbClr val="FFFF00"/>
              </a:solidFill>
              <a:latin typeface="Arial"/>
              <a:ea typeface="Arial"/>
              <a:cs typeface="Arial"/>
              <a:sym typeface="Arial"/>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Final Reaction Forces at Fixed Node:</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Drag (x): +0.0922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  • Lift (y): -47.1960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lt2"/>
                </a:solidFill>
                <a:latin typeface="Courier New"/>
                <a:ea typeface="Courier New"/>
                <a:cs typeface="Courier New"/>
                <a:sym typeface="Courier New"/>
              </a:rPr>
              <a:t>Weight: 2.6406 N</a:t>
            </a:r>
            <a:endParaRPr sz="1050">
              <a:solidFill>
                <a:schemeClr val="lt2"/>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FFFF00"/>
                </a:solidFill>
                <a:latin typeface="Courier New"/>
                <a:ea typeface="Courier New"/>
                <a:cs typeface="Courier New"/>
                <a:sym typeface="Courier New"/>
              </a:rPr>
              <a:t>Net Lift Margin at Final Time: -44.5554 N</a:t>
            </a:r>
            <a:endParaRPr>
              <a:solidFill>
                <a:srgbClr val="FFFF00"/>
              </a:solidFill>
            </a:endParaRPr>
          </a:p>
        </p:txBody>
      </p:sp>
      <p:pic>
        <p:nvPicPr>
          <p:cNvPr id="178" name="Google Shape;178;p26"/>
          <p:cNvPicPr preferRelativeResize="0"/>
          <p:nvPr/>
        </p:nvPicPr>
        <p:blipFill>
          <a:blip r:embed="rId3">
            <a:alphaModFix/>
          </a:blip>
          <a:stretch>
            <a:fillRect/>
          </a:stretch>
        </p:blipFill>
        <p:spPr>
          <a:xfrm>
            <a:off x="6047397" y="0"/>
            <a:ext cx="3096603" cy="2571750"/>
          </a:xfrm>
          <a:prstGeom prst="rect">
            <a:avLst/>
          </a:prstGeom>
          <a:noFill/>
          <a:ln>
            <a:noFill/>
          </a:ln>
        </p:spPr>
      </p:pic>
      <p:pic>
        <p:nvPicPr>
          <p:cNvPr id="179" name="Google Shape;179;p26"/>
          <p:cNvPicPr preferRelativeResize="0"/>
          <p:nvPr/>
        </p:nvPicPr>
        <p:blipFill>
          <a:blip r:embed="rId4">
            <a:alphaModFix/>
          </a:blip>
          <a:stretch>
            <a:fillRect/>
          </a:stretch>
        </p:blipFill>
        <p:spPr>
          <a:xfrm>
            <a:off x="4071775" y="2644073"/>
            <a:ext cx="3004401" cy="24994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Metrics (lift &amp; drag forces are fixed node reaction forces)</a:t>
            </a:r>
            <a:endParaRPr/>
          </a:p>
        </p:txBody>
      </p:sp>
      <p:graphicFrame>
        <p:nvGraphicFramePr>
          <p:cNvPr id="185" name="Google Shape;185;p27"/>
          <p:cNvGraphicFramePr/>
          <p:nvPr/>
        </p:nvGraphicFramePr>
        <p:xfrm>
          <a:off x="113875" y="1017725"/>
          <a:ext cx="3000000" cy="3000000"/>
        </p:xfrm>
        <a:graphic>
          <a:graphicData uri="http://schemas.openxmlformats.org/drawingml/2006/table">
            <a:tbl>
              <a:tblPr>
                <a:noFill/>
                <a:tableStyleId>{7B0458DB-907F-4A64-A164-2EAA95A8880E}</a:tableStyleId>
              </a:tblPr>
              <a:tblGrid>
                <a:gridCol w="541650"/>
                <a:gridCol w="1087025"/>
                <a:gridCol w="814375"/>
                <a:gridCol w="814375"/>
                <a:gridCol w="814375"/>
                <a:gridCol w="814375"/>
                <a:gridCol w="814375"/>
                <a:gridCol w="814375"/>
                <a:gridCol w="814375"/>
                <a:gridCol w="814375"/>
                <a:gridCol w="814375"/>
              </a:tblGrid>
              <a:tr h="734125">
                <a:tc>
                  <a:txBody>
                    <a:bodyPr/>
                    <a:lstStyle/>
                    <a:p>
                      <a:pPr indent="0" lvl="0" marL="0" rtl="0" algn="ctr">
                        <a:lnSpc>
                          <a:spcPct val="115000"/>
                        </a:lnSpc>
                        <a:spcBef>
                          <a:spcPts val="0"/>
                        </a:spcBef>
                        <a:spcAft>
                          <a:spcPts val="0"/>
                        </a:spcAft>
                        <a:buNone/>
                      </a:pPr>
                      <a:r>
                        <a:rPr b="1" lang="en" sz="1100">
                          <a:solidFill>
                            <a:srgbClr val="0E0E0E"/>
                          </a:solidFill>
                        </a:rPr>
                        <a:t>Case</a:t>
                      </a:r>
                      <a:endParaRPr b="1" sz="1100">
                        <a:solidFill>
                          <a:srgbClr val="0E0E0E"/>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 sz="1100">
                          <a:solidFill>
                            <a:srgbClr val="0E0E0E"/>
                          </a:solidFill>
                        </a:rPr>
                        <a:t>Description</a:t>
                      </a:r>
                      <a:endParaRPr b="1" sz="1100">
                        <a:solidFill>
                          <a:srgbClr val="0E0E0E"/>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 sz="1100">
                          <a:solidFill>
                            <a:srgbClr val="0E0E0E"/>
                          </a:solidFill>
                        </a:rPr>
                        <a:t>EI Profile</a:t>
                      </a:r>
                      <a:endParaRPr b="1" sz="1100">
                        <a:solidFill>
                          <a:srgbClr val="0E0E0E"/>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 sz="1100">
                          <a:solidFill>
                            <a:srgbClr val="0E0E0E"/>
                          </a:solidFill>
                        </a:rPr>
                        <a:t>Kappa Profile</a:t>
                      </a:r>
                      <a:endParaRPr b="1" sz="1100">
                        <a:solidFill>
                          <a:srgbClr val="0E0E0E"/>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 sz="1100">
                          <a:solidFill>
                            <a:srgbClr val="0E0E0E"/>
                          </a:solidFill>
                        </a:rPr>
                        <a:t>Drag</a:t>
                      </a:r>
                      <a:endParaRPr b="1" sz="1100">
                        <a:solidFill>
                          <a:srgbClr val="0E0E0E"/>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 sz="1100">
                          <a:solidFill>
                            <a:srgbClr val="0E0E0E"/>
                          </a:solidFill>
                        </a:rPr>
                        <a:t>Tip Δx (m)</a:t>
                      </a:r>
                      <a:endParaRPr b="1" sz="1100">
                        <a:solidFill>
                          <a:srgbClr val="0E0E0E"/>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 sz="1100">
                          <a:solidFill>
                            <a:srgbClr val="0E0E0E"/>
                          </a:solidFill>
                        </a:rPr>
                        <a:t>Tip Δy (m)</a:t>
                      </a:r>
                      <a:endParaRPr b="1" sz="1100">
                        <a:solidFill>
                          <a:srgbClr val="0E0E0E"/>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 sz="1100">
                          <a:solidFill>
                            <a:srgbClr val="0E0E0E"/>
                          </a:solidFill>
                        </a:rPr>
                        <a:t>Tip Displacement (m)</a:t>
                      </a:r>
                      <a:endParaRPr b="1" sz="1100">
                        <a:solidFill>
                          <a:srgbClr val="0E0E0E"/>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 sz="1100">
                          <a:solidFill>
                            <a:srgbClr val="0E0E0E"/>
                          </a:solidFill>
                        </a:rPr>
                        <a:t>Bending Energy (J)</a:t>
                      </a:r>
                      <a:endParaRPr b="1" sz="1100">
                        <a:solidFill>
                          <a:srgbClr val="0E0E0E"/>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 sz="1100">
                          <a:solidFill>
                            <a:srgbClr val="0E0E0E"/>
                          </a:solidFill>
                        </a:rPr>
                        <a:t>Lift Force (N)</a:t>
                      </a:r>
                      <a:endParaRPr b="1" sz="1100">
                        <a:solidFill>
                          <a:srgbClr val="0E0E0E"/>
                        </a:solidFill>
                      </a:endParaRPr>
                    </a:p>
                  </a:txBody>
                  <a:tcPr marT="91425" marB="91425" marR="91425" marL="91425">
                    <a:solidFill>
                      <a:schemeClr val="lt2"/>
                    </a:solidFill>
                  </a:tcPr>
                </a:tc>
                <a:tc>
                  <a:txBody>
                    <a:bodyPr/>
                    <a:lstStyle/>
                    <a:p>
                      <a:pPr indent="0" lvl="0" marL="0" rtl="0" algn="ctr">
                        <a:lnSpc>
                          <a:spcPct val="115000"/>
                        </a:lnSpc>
                        <a:spcBef>
                          <a:spcPts val="0"/>
                        </a:spcBef>
                        <a:spcAft>
                          <a:spcPts val="0"/>
                        </a:spcAft>
                        <a:buNone/>
                      </a:pPr>
                      <a:r>
                        <a:rPr b="1" lang="en" sz="1100">
                          <a:solidFill>
                            <a:srgbClr val="0E0E0E"/>
                          </a:solidFill>
                        </a:rPr>
                        <a:t>Drag Force (N)</a:t>
                      </a:r>
                      <a:endParaRPr b="1" sz="1100">
                        <a:solidFill>
                          <a:srgbClr val="0E0E0E"/>
                        </a:solidFill>
                      </a:endParaRPr>
                    </a:p>
                  </a:txBody>
                  <a:tcPr marT="91425" marB="91425" marR="91425" marL="91425">
                    <a:solidFill>
                      <a:schemeClr val="lt2"/>
                    </a:solidFill>
                  </a:tcPr>
                </a:tc>
              </a:tr>
              <a:tr h="541850">
                <a:tc>
                  <a:txBody>
                    <a:bodyPr/>
                    <a:lstStyle/>
                    <a:p>
                      <a:pPr indent="0" lvl="0" marL="0" rtl="0" algn="l">
                        <a:lnSpc>
                          <a:spcPct val="115000"/>
                        </a:lnSpc>
                        <a:spcBef>
                          <a:spcPts val="0"/>
                        </a:spcBef>
                        <a:spcAft>
                          <a:spcPts val="0"/>
                        </a:spcAft>
                        <a:buNone/>
                      </a:pPr>
                      <a:r>
                        <a:rPr b="1" lang="en" sz="1100">
                          <a:solidFill>
                            <a:srgbClr val="0E0E0E"/>
                          </a:solidFill>
                        </a:rPr>
                        <a:t>A</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Baseline morph</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Uniform</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Exponential</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None</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0968</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394</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406</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000059</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a:t>
                      </a:r>
                      <a:r>
                        <a:rPr b="1" lang="en" sz="1100">
                          <a:solidFill>
                            <a:srgbClr val="0E0E0E"/>
                          </a:solidFill>
                        </a:rPr>
                        <a:t>22.03</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a:t>
                      </a:r>
                      <a:r>
                        <a:rPr b="1" lang="en" sz="1100">
                          <a:solidFill>
                            <a:srgbClr val="0E0E0E"/>
                          </a:solidFill>
                        </a:rPr>
                        <a:t>0.</a:t>
                      </a:r>
                      <a:r>
                        <a:rPr b="1" lang="en" sz="1100">
                          <a:solidFill>
                            <a:srgbClr val="0E0E0E"/>
                          </a:solidFill>
                        </a:rPr>
                        <a:t>0952</a:t>
                      </a:r>
                      <a:endParaRPr b="1" sz="1100">
                        <a:solidFill>
                          <a:srgbClr val="0E0E0E"/>
                        </a:solidFill>
                      </a:endParaRPr>
                    </a:p>
                  </a:txBody>
                  <a:tcPr marT="91425" marB="91425" marR="91425" marL="91425">
                    <a:solidFill>
                      <a:schemeClr val="dk1"/>
                    </a:solidFill>
                  </a:tcPr>
                </a:tc>
              </a:tr>
              <a:tr h="734125">
                <a:tc>
                  <a:txBody>
                    <a:bodyPr/>
                    <a:lstStyle/>
                    <a:p>
                      <a:pPr indent="0" lvl="0" marL="0" rtl="0" algn="l">
                        <a:lnSpc>
                          <a:spcPct val="115000"/>
                        </a:lnSpc>
                        <a:spcBef>
                          <a:spcPts val="0"/>
                        </a:spcBef>
                        <a:spcAft>
                          <a:spcPts val="0"/>
                        </a:spcAft>
                        <a:buNone/>
                      </a:pPr>
                      <a:r>
                        <a:rPr b="1" lang="en" sz="1100">
                          <a:solidFill>
                            <a:srgbClr val="0E0E0E"/>
                          </a:solidFill>
                        </a:rPr>
                        <a:t>B</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With aerodynamic drag</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Uniform</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Exponential</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High-Re</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0969</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395</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406</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000258</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a:t>
                      </a:r>
                      <a:r>
                        <a:rPr b="1" lang="en" sz="1100">
                          <a:solidFill>
                            <a:srgbClr val="0E0E0E"/>
                          </a:solidFill>
                        </a:rPr>
                        <a:t>42.00</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a:t>
                      </a:r>
                      <a:r>
                        <a:rPr b="1" lang="en" sz="1100">
                          <a:solidFill>
                            <a:srgbClr val="0E0E0E"/>
                          </a:solidFill>
                        </a:rPr>
                        <a:t>0.</a:t>
                      </a:r>
                      <a:r>
                        <a:rPr b="1" lang="en" sz="1100">
                          <a:solidFill>
                            <a:srgbClr val="0E0E0E"/>
                          </a:solidFill>
                        </a:rPr>
                        <a:t>1357</a:t>
                      </a:r>
                      <a:endParaRPr b="1" sz="1100">
                        <a:solidFill>
                          <a:srgbClr val="0E0E0E"/>
                        </a:solidFill>
                      </a:endParaRPr>
                    </a:p>
                  </a:txBody>
                  <a:tcPr marT="91425" marB="91425" marR="91425" marL="91425">
                    <a:solidFill>
                      <a:schemeClr val="dk1"/>
                    </a:solidFill>
                  </a:tcPr>
                </a:tc>
              </a:tr>
              <a:tr h="795350">
                <a:tc>
                  <a:txBody>
                    <a:bodyPr/>
                    <a:lstStyle/>
                    <a:p>
                      <a:pPr indent="0" lvl="0" marL="0" rtl="0" algn="l">
                        <a:lnSpc>
                          <a:spcPct val="115000"/>
                        </a:lnSpc>
                        <a:spcBef>
                          <a:spcPts val="0"/>
                        </a:spcBef>
                        <a:spcAft>
                          <a:spcPts val="0"/>
                        </a:spcAft>
                        <a:buNone/>
                      </a:pPr>
                      <a:r>
                        <a:rPr b="1" lang="en" sz="1100">
                          <a:solidFill>
                            <a:srgbClr val="0E0E0E"/>
                          </a:solidFill>
                        </a:rPr>
                        <a:t>D</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Exponential curvature profile</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Uniform</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Gaussian</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High-Re</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148</a:t>
                      </a:r>
                      <a:r>
                        <a:rPr b="1" lang="en" sz="1100">
                          <a:solidFill>
                            <a:srgbClr val="0E0E0E"/>
                          </a:solidFill>
                        </a:rPr>
                        <a:t>5</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443</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467</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000276</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a:t>
                      </a:r>
                      <a:r>
                        <a:rPr b="1" lang="en" sz="1100">
                          <a:solidFill>
                            <a:srgbClr val="0E0E0E"/>
                          </a:solidFill>
                        </a:rPr>
                        <a:t>41.19</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a:t>
                      </a:r>
                      <a:r>
                        <a:rPr b="1" lang="en" sz="1100">
                          <a:solidFill>
                            <a:srgbClr val="0E0E0E"/>
                          </a:solidFill>
                        </a:rPr>
                        <a:t>0.2889</a:t>
                      </a:r>
                      <a:endParaRPr b="1" sz="1100">
                        <a:solidFill>
                          <a:srgbClr val="0E0E0E"/>
                        </a:solidFill>
                      </a:endParaRPr>
                    </a:p>
                  </a:txBody>
                  <a:tcPr marT="91425" marB="91425" marR="91425" marL="91425">
                    <a:solidFill>
                      <a:schemeClr val="dk1"/>
                    </a:solidFill>
                  </a:tcPr>
                </a:tc>
              </a:tr>
              <a:tr h="641650">
                <a:tc>
                  <a:txBody>
                    <a:bodyPr/>
                    <a:lstStyle/>
                    <a:p>
                      <a:pPr indent="0" lvl="0" marL="0" rtl="0" algn="l">
                        <a:lnSpc>
                          <a:spcPct val="115000"/>
                        </a:lnSpc>
                        <a:spcBef>
                          <a:spcPts val="0"/>
                        </a:spcBef>
                        <a:spcAft>
                          <a:spcPts val="0"/>
                        </a:spcAft>
                        <a:buNone/>
                      </a:pPr>
                      <a:r>
                        <a:rPr b="1" lang="en" sz="1100">
                          <a:solidFill>
                            <a:srgbClr val="0E0E0E"/>
                          </a:solidFill>
                        </a:rPr>
                        <a:t>E</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Tip-softened stiffness</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Tip Soft</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Exponential</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High-Re</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0969</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394</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406</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000271</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a:t>
                      </a:r>
                      <a:r>
                        <a:rPr b="1" lang="en" sz="1100">
                          <a:solidFill>
                            <a:srgbClr val="0E0E0E"/>
                          </a:solidFill>
                        </a:rPr>
                        <a:t>41.99</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a:t>
                      </a:r>
                      <a:r>
                        <a:rPr b="1" lang="en" sz="1100">
                          <a:solidFill>
                            <a:srgbClr val="0E0E0E"/>
                          </a:solidFill>
                        </a:rPr>
                        <a:t>0.1357</a:t>
                      </a:r>
                      <a:endParaRPr b="1" sz="1100">
                        <a:solidFill>
                          <a:srgbClr val="0E0E0E"/>
                        </a:solidFill>
                      </a:endParaRPr>
                    </a:p>
                  </a:txBody>
                  <a:tcPr marT="91425" marB="91425" marR="91425" marL="91425">
                    <a:solidFill>
                      <a:schemeClr val="dk1"/>
                    </a:solidFill>
                  </a:tcPr>
                </a:tc>
              </a:tr>
              <a:tr h="541850">
                <a:tc>
                  <a:txBody>
                    <a:bodyPr/>
                    <a:lstStyle/>
                    <a:p>
                      <a:pPr indent="0" lvl="0" marL="0" rtl="0" algn="l">
                        <a:lnSpc>
                          <a:spcPct val="115000"/>
                        </a:lnSpc>
                        <a:spcBef>
                          <a:spcPts val="0"/>
                        </a:spcBef>
                        <a:spcAft>
                          <a:spcPts val="0"/>
                        </a:spcAft>
                        <a:buNone/>
                      </a:pPr>
                      <a:r>
                        <a:rPr b="1" lang="en" sz="1100">
                          <a:solidFill>
                            <a:srgbClr val="0E0E0E"/>
                          </a:solidFill>
                        </a:rPr>
                        <a:t>H</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Tapered stiffness</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Linear Taper</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Linear</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High-Re</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-0.2241</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-0.559</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602</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0.</a:t>
                      </a:r>
                      <a:r>
                        <a:rPr b="1" lang="en" sz="1100">
                          <a:solidFill>
                            <a:srgbClr val="0E0E0E"/>
                          </a:solidFill>
                        </a:rPr>
                        <a:t>000375</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a:t>
                      </a:r>
                      <a:r>
                        <a:rPr b="1" lang="en" sz="1100">
                          <a:solidFill>
                            <a:srgbClr val="0E0E0E"/>
                          </a:solidFill>
                        </a:rPr>
                        <a:t>47.20</a:t>
                      </a:r>
                      <a:endParaRPr b="1" sz="1100">
                        <a:solidFill>
                          <a:srgbClr val="0E0E0E"/>
                        </a:solidFill>
                      </a:endParaRPr>
                    </a:p>
                  </a:txBody>
                  <a:tcPr marT="91425" marB="91425" marR="91425" marL="91425">
                    <a:solidFill>
                      <a:schemeClr val="dk1"/>
                    </a:solidFill>
                  </a:tcPr>
                </a:tc>
                <a:tc>
                  <a:txBody>
                    <a:bodyPr/>
                    <a:lstStyle/>
                    <a:p>
                      <a:pPr indent="0" lvl="0" marL="0" rtl="0" algn="l">
                        <a:lnSpc>
                          <a:spcPct val="115000"/>
                        </a:lnSpc>
                        <a:spcBef>
                          <a:spcPts val="0"/>
                        </a:spcBef>
                        <a:spcAft>
                          <a:spcPts val="0"/>
                        </a:spcAft>
                        <a:buNone/>
                      </a:pPr>
                      <a:r>
                        <a:rPr b="1" lang="en" sz="1100">
                          <a:solidFill>
                            <a:srgbClr val="0E0E0E"/>
                          </a:solidFill>
                        </a:rPr>
                        <a:t>+</a:t>
                      </a:r>
                      <a:r>
                        <a:rPr b="1" lang="en" sz="1100">
                          <a:solidFill>
                            <a:srgbClr val="0E0E0E"/>
                          </a:solidFill>
                        </a:rPr>
                        <a:t>0.0922</a:t>
                      </a:r>
                      <a:endParaRPr b="1" sz="1100">
                        <a:solidFill>
                          <a:srgbClr val="0E0E0E"/>
                        </a:solidFill>
                      </a:endParaRPr>
                    </a:p>
                  </a:txBody>
                  <a:tcPr marT="91425" marB="91425" marR="91425" marL="91425">
                    <a:solidFill>
                      <a:schemeClr val="dk1"/>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Implementations / Improvements</a:t>
            </a:r>
            <a:endParaRPr/>
          </a:p>
        </p:txBody>
      </p:sp>
      <p:sp>
        <p:nvSpPr>
          <p:cNvPr id="191" name="Google Shape;19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3D Wing Extension (Twist + Camber) </a:t>
            </a:r>
            <a:endParaRPr/>
          </a:p>
          <a:p>
            <a:pPr indent="-342900" lvl="0" marL="457200" rtl="0" algn="l">
              <a:spcBef>
                <a:spcPts val="1200"/>
              </a:spcBef>
              <a:spcAft>
                <a:spcPts val="0"/>
              </a:spcAft>
              <a:buSzPts val="1800"/>
              <a:buChar char="●"/>
            </a:pPr>
            <a:r>
              <a:rPr lang="en"/>
              <a:t>Expand the 2D beam model into a 3D thin-shell model to capture spanwise twist or bending</a:t>
            </a:r>
            <a:endParaRPr/>
          </a:p>
          <a:p>
            <a:pPr indent="-342900" lvl="0" marL="457200" rtl="0" algn="l">
              <a:spcBef>
                <a:spcPts val="0"/>
              </a:spcBef>
              <a:spcAft>
                <a:spcPts val="0"/>
              </a:spcAft>
              <a:buSzPts val="1800"/>
              <a:buChar char="●"/>
            </a:pPr>
            <a:r>
              <a:rPr lang="en"/>
              <a:t>Enable combined twist–camber morphing, allowing comparison with biological roll-control mechanisms seen in bird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Coding </a:t>
            </a:r>
            <a:r>
              <a:rPr lang="en"/>
              <a:t>Implementation</a:t>
            </a:r>
            <a:endParaRPr/>
          </a:p>
        </p:txBody>
      </p:sp>
      <p:sp>
        <p:nvSpPr>
          <p:cNvPr id="197" name="Google Shape;197;p29"/>
          <p:cNvSpPr txBox="1"/>
          <p:nvPr>
            <p:ph idx="1" type="body"/>
          </p:nvPr>
        </p:nvSpPr>
        <p:spPr>
          <a:xfrm>
            <a:off x="97050" y="1091625"/>
            <a:ext cx="2403600" cy="3849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300">
                <a:solidFill>
                  <a:srgbClr val="000000"/>
                </a:solidFill>
                <a:highlight>
                  <a:schemeClr val="dk1"/>
                </a:highlight>
              </a:rPr>
              <a:t>simulate_dynamic_morphing()</a:t>
            </a:r>
            <a:endParaRPr sz="1300">
              <a:solidFill>
                <a:srgbClr val="000000"/>
              </a:solidFill>
              <a:highlight>
                <a:schemeClr val="dk1"/>
              </a:highlight>
            </a:endParaRPr>
          </a:p>
        </p:txBody>
      </p:sp>
      <p:pic>
        <p:nvPicPr>
          <p:cNvPr id="198" name="Google Shape;198;p29"/>
          <p:cNvPicPr preferRelativeResize="0"/>
          <p:nvPr/>
        </p:nvPicPr>
        <p:blipFill>
          <a:blip r:embed="rId3">
            <a:alphaModFix/>
          </a:blip>
          <a:stretch>
            <a:fillRect/>
          </a:stretch>
        </p:blipFill>
        <p:spPr>
          <a:xfrm>
            <a:off x="3376000" y="2827275"/>
            <a:ext cx="2567101" cy="1669169"/>
          </a:xfrm>
          <a:prstGeom prst="rect">
            <a:avLst/>
          </a:prstGeom>
          <a:noFill/>
          <a:ln>
            <a:noFill/>
          </a:ln>
        </p:spPr>
      </p:pic>
      <p:pic>
        <p:nvPicPr>
          <p:cNvPr id="199" name="Google Shape;199;p29"/>
          <p:cNvPicPr preferRelativeResize="0"/>
          <p:nvPr/>
        </p:nvPicPr>
        <p:blipFill>
          <a:blip r:embed="rId4">
            <a:alphaModFix/>
          </a:blip>
          <a:stretch>
            <a:fillRect/>
          </a:stretch>
        </p:blipFill>
        <p:spPr>
          <a:xfrm>
            <a:off x="3376000" y="1308187"/>
            <a:ext cx="2567099" cy="1443676"/>
          </a:xfrm>
          <a:prstGeom prst="rect">
            <a:avLst/>
          </a:prstGeom>
          <a:noFill/>
          <a:ln>
            <a:noFill/>
          </a:ln>
        </p:spPr>
      </p:pic>
      <p:pic>
        <p:nvPicPr>
          <p:cNvPr id="200" name="Google Shape;200;p29"/>
          <p:cNvPicPr preferRelativeResize="0"/>
          <p:nvPr/>
        </p:nvPicPr>
        <p:blipFill>
          <a:blip r:embed="rId5">
            <a:alphaModFix/>
          </a:blip>
          <a:stretch>
            <a:fillRect/>
          </a:stretch>
        </p:blipFill>
        <p:spPr>
          <a:xfrm>
            <a:off x="6068750" y="1282712"/>
            <a:ext cx="2719675" cy="1494650"/>
          </a:xfrm>
          <a:prstGeom prst="rect">
            <a:avLst/>
          </a:prstGeom>
          <a:noFill/>
          <a:ln>
            <a:noFill/>
          </a:ln>
        </p:spPr>
      </p:pic>
      <p:pic>
        <p:nvPicPr>
          <p:cNvPr id="201" name="Google Shape;201;p29"/>
          <p:cNvPicPr preferRelativeResize="0"/>
          <p:nvPr/>
        </p:nvPicPr>
        <p:blipFill>
          <a:blip r:embed="rId6">
            <a:alphaModFix/>
          </a:blip>
          <a:stretch>
            <a:fillRect/>
          </a:stretch>
        </p:blipFill>
        <p:spPr>
          <a:xfrm>
            <a:off x="6068750" y="2935380"/>
            <a:ext cx="2719675" cy="1025144"/>
          </a:xfrm>
          <a:prstGeom prst="rect">
            <a:avLst/>
          </a:prstGeom>
          <a:noFill/>
          <a:ln>
            <a:noFill/>
          </a:ln>
        </p:spPr>
      </p:pic>
      <p:pic>
        <p:nvPicPr>
          <p:cNvPr id="202" name="Google Shape;202;p29"/>
          <p:cNvPicPr preferRelativeResize="0"/>
          <p:nvPr/>
        </p:nvPicPr>
        <p:blipFill>
          <a:blip r:embed="rId7">
            <a:alphaModFix/>
          </a:blip>
          <a:stretch>
            <a:fillRect/>
          </a:stretch>
        </p:blipFill>
        <p:spPr>
          <a:xfrm>
            <a:off x="179150" y="1402625"/>
            <a:ext cx="3071198" cy="294323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