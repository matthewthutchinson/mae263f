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Lst>
  <p:sldSz cy="5143500" cx="9144000"/>
  <p:notesSz cx="6858000" cy="9144000"/>
  <p:embeddedFontLst>
    <p:embeddedFont>
      <p:font typeface="Average"/>
      <p:regular r:id="rId10"/>
    </p:embeddedFont>
    <p:embeddedFont>
      <p:font typeface="Oswald"/>
      <p:regular r:id="rId11"/>
      <p:bold r:id="rId1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schemas.openxmlformats.org/officeDocument/2006/relationships/font" Target="fonts/Oswald-regular.fntdata"/><Relationship Id="rId10" Type="http://schemas.openxmlformats.org/officeDocument/2006/relationships/font" Target="fonts/Average-regular.fntdata"/><Relationship Id="rId12" Type="http://schemas.openxmlformats.org/officeDocument/2006/relationships/font" Target="fonts/Oswald-bold.fntdata"/><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139700" rtl="0" algn="l">
              <a:lnSpc>
                <a:spcPct val="115000"/>
              </a:lnSpc>
              <a:spcBef>
                <a:spcPts val="0"/>
              </a:spcBef>
              <a:spcAft>
                <a:spcPts val="0"/>
              </a:spcAft>
              <a:buClr>
                <a:schemeClr val="dk1"/>
              </a:buClr>
              <a:buSzPts val="1100"/>
              <a:buFont typeface="Arial"/>
              <a:buNone/>
            </a:pPr>
            <a:r>
              <a:rPr lang="en" sz="1200">
                <a:solidFill>
                  <a:srgbClr val="0E0E0E"/>
                </a:solidFill>
              </a:rPr>
              <a:t>Birds like falcons and swifts can twist and camber their wings mid-flight, giving them incredible agility and efficiency. We’re drawing inspiration from these mechanisms to simulate similar shape morphing in a flexible, continuous wing structure</a:t>
            </a:r>
            <a:endParaRPr sz="1200">
              <a:solidFill>
                <a:srgbClr val="0E0E0E"/>
              </a:solidFill>
            </a:endParaRPr>
          </a:p>
          <a:p>
            <a:pPr indent="0" lvl="0" marL="0" rtl="0" algn="l">
              <a:spcBef>
                <a:spcPts val="0"/>
              </a:spcBef>
              <a:spcAft>
                <a:spcPts val="0"/>
              </a:spcAft>
              <a:buNone/>
            </a:pPr>
            <a:r>
              <a:t/>
            </a:r>
            <a:endParaRPr sz="1500">
              <a:solidFill>
                <a:srgbClr val="0E0E0E"/>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9faab4c410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9faab4c410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139700" rtl="0" algn="l">
              <a:lnSpc>
                <a:spcPct val="115000"/>
              </a:lnSpc>
              <a:spcBef>
                <a:spcPts val="0"/>
              </a:spcBef>
              <a:spcAft>
                <a:spcPts val="0"/>
              </a:spcAft>
              <a:buNone/>
            </a:pPr>
            <a:r>
              <a:rPr lang="en" sz="1200">
                <a:solidFill>
                  <a:srgbClr val="0E0E0E"/>
                </a:solidFill>
              </a:rPr>
              <a:t>Camber controls the curvature of the wing and influences lift, while twist lets birds change the angle of attack along the span—essential for roll, stability, and gust adaptation. If we can replicate this in a continuous flexible structure, it could transform how UAVs respond in real-time flight</a:t>
            </a:r>
            <a:endParaRPr>
              <a:solidFill>
                <a:schemeClr val="dk1"/>
              </a:solidFill>
            </a:endParaRPr>
          </a:p>
          <a:p>
            <a:pPr indent="0" lvl="0" marL="139700" rtl="0" algn="l">
              <a:lnSpc>
                <a:spcPct val="115000"/>
              </a:lnSpc>
              <a:spcBef>
                <a:spcPts val="0"/>
              </a:spcBef>
              <a:spcAft>
                <a:spcPts val="0"/>
              </a:spcAft>
              <a:buNone/>
            </a:pPr>
            <a:r>
              <a:t/>
            </a:r>
            <a:endParaRPr sz="1200">
              <a:solidFill>
                <a:srgbClr val="0E0E0E"/>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aa33458f2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aa33458f2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We have implemented variable-camber and variable-stiffness simulations, allowing us to control curvature through trailing-edge actuation and stiffness gradients. Initial results show smooth, predictable deformation and clear energy–curvature tradeoffs, with compliant regions requiring less actuation for the same camber.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aa2c18f6dc_1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aa2c18f6dc_1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Next, we will simulate dynamic morphing, transitioning the beam between two camber profiles using time-dependent actuation and shape-interpolation routines. This will let us study transient behavior—including curvature evolution, internal moments, and energy usage—and produce performance metrics.</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4350279" y="2855377"/>
            <a:ext cx="443589" cy="105632"/>
            <a:chOff x="4137525" y="2915950"/>
            <a:chExt cx="869100" cy="207000"/>
          </a:xfrm>
        </p:grpSpPr>
        <p:sp>
          <p:nvSpPr>
            <p:cNvPr id="11" name="Google Shape;11;p2"/>
            <p:cNvSpPr/>
            <p:nvPr/>
          </p:nvSpPr>
          <p:spPr>
            <a:xfrm>
              <a:off x="446857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47996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41375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671258" y="990800"/>
            <a:ext cx="7801500" cy="1730100"/>
          </a:xfrm>
          <a:prstGeom prst="rect">
            <a:avLst/>
          </a:prstGeom>
        </p:spPr>
        <p:txBody>
          <a:bodyPr anchorCtr="0" anchor="b"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5" name="Google Shape;15;p2"/>
          <p:cNvSpPr txBox="1"/>
          <p:nvPr>
            <p:ph idx="1" type="subTitle"/>
          </p:nvPr>
        </p:nvSpPr>
        <p:spPr>
          <a:xfrm>
            <a:off x="671250" y="3174876"/>
            <a:ext cx="7801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6" name="Google Shape;16;p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txBox="1"/>
          <p:nvPr>
            <p:ph type="title"/>
          </p:nvPr>
        </p:nvSpPr>
        <p:spPr>
          <a:xfrm>
            <a:off x="671250" y="2141250"/>
            <a:ext cx="7852200" cy="861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3"/>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7"/>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8" name="Google Shape;38;p8"/>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2" name="Google Shape;42;p9"/>
          <p:cNvSpPr txBox="1"/>
          <p:nvPr>
            <p:ph type="title"/>
          </p:nvPr>
        </p:nvSpPr>
        <p:spPr>
          <a:xfrm>
            <a:off x="265500" y="1081400"/>
            <a:ext cx="4045200" cy="1710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3" name="Google Shape;43;p9"/>
          <p:cNvSpPr txBox="1"/>
          <p:nvPr>
            <p:ph idx="1" type="subTitle"/>
          </p:nvPr>
        </p:nvSpPr>
        <p:spPr>
          <a:xfrm>
            <a:off x="265500" y="28452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dk1"/>
              </a:buClr>
              <a:buSzPts val="2100"/>
              <a:buNone/>
              <a:defRPr sz="21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5" name="Google Shape;45;p9"/>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dk1"/>
              </a:buClr>
              <a:buSzPts val="2100"/>
              <a:buFont typeface="Oswald"/>
              <a:buNone/>
              <a:defRPr sz="2100">
                <a:solidFill>
                  <a:schemeClr val="dk1"/>
                </a:solidFill>
                <a:latin typeface="Oswald"/>
                <a:ea typeface="Oswald"/>
                <a:cs typeface="Oswald"/>
                <a:sym typeface="Oswald"/>
              </a:defRPr>
            </a:lvl1pPr>
          </a:lstStyle>
          <a:p/>
        </p:txBody>
      </p:sp>
      <p:sp>
        <p:nvSpPr>
          <p:cNvPr id="48" name="Google Shape;48;p10"/>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255275"/>
            <a:ext cx="8520600" cy="18906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lat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1pPr>
            <a:lvl2pPr lvl="1">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2pPr>
            <a:lvl3pPr lvl="2">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3pPr>
            <a:lvl4pPr lvl="3">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4pPr>
            <a:lvl5pPr lvl="4">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5pPr>
            <a:lvl6pPr lvl="5">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6pPr>
            <a:lvl7pPr lvl="6">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7pPr>
            <a:lvl8pPr lvl="7">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8pPr>
            <a:lvl9pPr lvl="8">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Average"/>
              <a:buChar char="●"/>
              <a:defRPr sz="1800">
                <a:solidFill>
                  <a:schemeClr val="accent3"/>
                </a:solidFill>
                <a:latin typeface="Average"/>
                <a:ea typeface="Average"/>
                <a:cs typeface="Average"/>
                <a:sym typeface="Average"/>
              </a:defRPr>
            </a:lvl1pPr>
            <a:lvl2pPr indent="-317500" lvl="1" marL="914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2pPr>
            <a:lvl3pPr indent="-317500" lvl="2" marL="1371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3pPr>
            <a:lvl4pPr indent="-317500" lvl="3" marL="1828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4pPr>
            <a:lvl5pPr indent="-317500" lvl="4" marL="22860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5pPr>
            <a:lvl6pPr indent="-317500" lvl="5" marL="27432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6pPr>
            <a:lvl7pPr indent="-317500" lvl="6" marL="3200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7pPr>
            <a:lvl8pPr indent="-317500" lvl="7" marL="3657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8pPr>
            <a:lvl9pPr indent="-317500" lvl="8" marL="4114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9pPr>
          </a:lstStyle>
          <a:p/>
        </p:txBody>
      </p:sp>
      <p:sp>
        <p:nvSpPr>
          <p:cNvPr id="8" name="Google Shape;8;p1"/>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3"/>
                </a:solidFill>
                <a:latin typeface="Average"/>
                <a:ea typeface="Average"/>
                <a:cs typeface="Average"/>
                <a:sym typeface="Average"/>
              </a:defRPr>
            </a:lvl1pPr>
            <a:lvl2pPr lvl="1" algn="r">
              <a:buNone/>
              <a:defRPr sz="1000">
                <a:solidFill>
                  <a:schemeClr val="accent3"/>
                </a:solidFill>
                <a:latin typeface="Average"/>
                <a:ea typeface="Average"/>
                <a:cs typeface="Average"/>
                <a:sym typeface="Average"/>
              </a:defRPr>
            </a:lvl2pPr>
            <a:lvl3pPr lvl="2" algn="r">
              <a:buNone/>
              <a:defRPr sz="1000">
                <a:solidFill>
                  <a:schemeClr val="accent3"/>
                </a:solidFill>
                <a:latin typeface="Average"/>
                <a:ea typeface="Average"/>
                <a:cs typeface="Average"/>
                <a:sym typeface="Average"/>
              </a:defRPr>
            </a:lvl3pPr>
            <a:lvl4pPr lvl="3" algn="r">
              <a:buNone/>
              <a:defRPr sz="1000">
                <a:solidFill>
                  <a:schemeClr val="accent3"/>
                </a:solidFill>
                <a:latin typeface="Average"/>
                <a:ea typeface="Average"/>
                <a:cs typeface="Average"/>
                <a:sym typeface="Average"/>
              </a:defRPr>
            </a:lvl4pPr>
            <a:lvl5pPr lvl="4" algn="r">
              <a:buNone/>
              <a:defRPr sz="1000">
                <a:solidFill>
                  <a:schemeClr val="accent3"/>
                </a:solidFill>
                <a:latin typeface="Average"/>
                <a:ea typeface="Average"/>
                <a:cs typeface="Average"/>
                <a:sym typeface="Average"/>
              </a:defRPr>
            </a:lvl5pPr>
            <a:lvl6pPr lvl="5" algn="r">
              <a:buNone/>
              <a:defRPr sz="1000">
                <a:solidFill>
                  <a:schemeClr val="accent3"/>
                </a:solidFill>
                <a:latin typeface="Average"/>
                <a:ea typeface="Average"/>
                <a:cs typeface="Average"/>
                <a:sym typeface="Average"/>
              </a:defRPr>
            </a:lvl6pPr>
            <a:lvl7pPr lvl="6" algn="r">
              <a:buNone/>
              <a:defRPr sz="1000">
                <a:solidFill>
                  <a:schemeClr val="accent3"/>
                </a:solidFill>
                <a:latin typeface="Average"/>
                <a:ea typeface="Average"/>
                <a:cs typeface="Average"/>
                <a:sym typeface="Average"/>
              </a:defRPr>
            </a:lvl7pPr>
            <a:lvl8pPr lvl="7" algn="r">
              <a:buNone/>
              <a:defRPr sz="1000">
                <a:solidFill>
                  <a:schemeClr val="accent3"/>
                </a:solidFill>
                <a:latin typeface="Average"/>
                <a:ea typeface="Average"/>
                <a:cs typeface="Average"/>
                <a:sym typeface="Average"/>
              </a:defRPr>
            </a:lvl8pPr>
            <a:lvl9pPr lvl="8" algn="r">
              <a:buNone/>
              <a:defRPr sz="1000">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image" Target="../media/image8.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9.png"/><Relationship Id="rId5" Type="http://schemas.openxmlformats.org/officeDocument/2006/relationships/image" Target="../media/image5.g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1.png"/><Relationship Id="rId6"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671258" y="1232550"/>
            <a:ext cx="7801500" cy="1339200"/>
          </a:xfrm>
          <a:prstGeom prst="rect">
            <a:avLst/>
          </a:prstGeom>
        </p:spPr>
        <p:txBody>
          <a:bodyPr anchorCtr="0" anchor="b" bIns="91425" lIns="91425" spcFirstLastPara="1" rIns="91425" wrap="square" tIns="91425">
            <a:spAutoFit/>
          </a:bodyPr>
          <a:lstStyle/>
          <a:p>
            <a:pPr indent="0" lvl="0" marL="0" rtl="0" algn="ctr">
              <a:lnSpc>
                <a:spcPct val="150000"/>
              </a:lnSpc>
              <a:spcBef>
                <a:spcPts val="0"/>
              </a:spcBef>
              <a:spcAft>
                <a:spcPts val="0"/>
              </a:spcAft>
              <a:buSzPts val="990"/>
              <a:buNone/>
            </a:pPr>
            <a:r>
              <a:rPr lang="en" sz="3000"/>
              <a:t>263F Midterm Presentation</a:t>
            </a:r>
            <a:endParaRPr sz="3000"/>
          </a:p>
          <a:p>
            <a:pPr indent="0" lvl="0" marL="0" rtl="0" algn="ctr">
              <a:lnSpc>
                <a:spcPct val="150000"/>
              </a:lnSpc>
              <a:spcBef>
                <a:spcPts val="0"/>
              </a:spcBef>
              <a:spcAft>
                <a:spcPts val="0"/>
              </a:spcAft>
              <a:buSzPts val="990"/>
              <a:buNone/>
            </a:pPr>
            <a:r>
              <a:rPr lang="en" sz="3000"/>
              <a:t>Simulation of Camber Morphing Wing</a:t>
            </a:r>
            <a:endParaRPr sz="3000"/>
          </a:p>
        </p:txBody>
      </p:sp>
      <p:sp>
        <p:nvSpPr>
          <p:cNvPr id="60" name="Google Shape;60;p13"/>
          <p:cNvSpPr txBox="1"/>
          <p:nvPr>
            <p:ph idx="1" type="subTitle"/>
          </p:nvPr>
        </p:nvSpPr>
        <p:spPr>
          <a:xfrm>
            <a:off x="671250" y="3181113"/>
            <a:ext cx="7801500" cy="461700"/>
          </a:xfrm>
          <a:prstGeom prst="rect">
            <a:avLst/>
          </a:prstGeom>
        </p:spPr>
        <p:txBody>
          <a:bodyPr anchorCtr="0" anchor="t" bIns="91425" lIns="91425" spcFirstLastPara="1" rIns="91425" wrap="square" tIns="91425">
            <a:spAutoFit/>
          </a:bodyPr>
          <a:lstStyle/>
          <a:p>
            <a:pPr indent="0" lvl="0" marL="0" rtl="0" algn="ctr">
              <a:spcBef>
                <a:spcPts val="0"/>
              </a:spcBef>
              <a:spcAft>
                <a:spcPts val="0"/>
              </a:spcAft>
              <a:buNone/>
            </a:pPr>
            <a:r>
              <a:rPr lang="en" sz="1800"/>
              <a:t>Andrew Tran and Matthew Hutchinson</a:t>
            </a:r>
            <a:endParaRPr sz="1800"/>
          </a:p>
        </p:txBody>
      </p:sp>
      <p:pic>
        <p:nvPicPr>
          <p:cNvPr id="61" name="Google Shape;61;p13"/>
          <p:cNvPicPr preferRelativeResize="0"/>
          <p:nvPr/>
        </p:nvPicPr>
        <p:blipFill rotWithShape="1">
          <a:blip r:embed="rId3">
            <a:alphaModFix/>
          </a:blip>
          <a:srcRect b="0" l="10978" r="23980" t="0"/>
          <a:stretch/>
        </p:blipFill>
        <p:spPr>
          <a:xfrm>
            <a:off x="177500" y="3241900"/>
            <a:ext cx="1987625" cy="1718950"/>
          </a:xfrm>
          <a:prstGeom prst="rect">
            <a:avLst/>
          </a:prstGeom>
          <a:noFill/>
          <a:ln>
            <a:noFill/>
          </a:ln>
        </p:spPr>
      </p:pic>
      <p:pic>
        <p:nvPicPr>
          <p:cNvPr id="62" name="Google Shape;62;p13"/>
          <p:cNvPicPr preferRelativeResize="0"/>
          <p:nvPr/>
        </p:nvPicPr>
        <p:blipFill rotWithShape="1">
          <a:blip r:embed="rId4">
            <a:alphaModFix/>
          </a:blip>
          <a:srcRect b="0" l="16228" r="9872" t="0"/>
          <a:stretch/>
        </p:blipFill>
        <p:spPr>
          <a:xfrm>
            <a:off x="6989197" y="3168949"/>
            <a:ext cx="1987628" cy="179189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Motivation</a:t>
            </a:r>
            <a:endParaRPr/>
          </a:p>
        </p:txBody>
      </p:sp>
      <p:sp>
        <p:nvSpPr>
          <p:cNvPr id="68" name="Google Shape;68;p14"/>
          <p:cNvSpPr txBox="1"/>
          <p:nvPr>
            <p:ph idx="1" type="body"/>
          </p:nvPr>
        </p:nvSpPr>
        <p:spPr>
          <a:xfrm>
            <a:off x="257175" y="1152475"/>
            <a:ext cx="4175700" cy="37545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 continuous camber-morphing wing, which enables smooth shape change, cleaner airflow, and more efficient lift modulation.</a:t>
            </a:r>
            <a:endParaRPr/>
          </a:p>
          <a:p>
            <a:pPr indent="-342900" lvl="0" marL="457200" rtl="0" algn="l">
              <a:spcBef>
                <a:spcPts val="1000"/>
              </a:spcBef>
              <a:spcAft>
                <a:spcPts val="1000"/>
              </a:spcAft>
              <a:buSzPts val="1800"/>
              <a:buChar char="●"/>
            </a:pPr>
            <a:r>
              <a:rPr lang="en"/>
              <a:t>We model an airfoil section as a 2D elastic beam and simulate camber deformation using applied bending moments and trailing-edge actuation. </a:t>
            </a:r>
            <a:endParaRPr/>
          </a:p>
        </p:txBody>
      </p:sp>
      <p:pic>
        <p:nvPicPr>
          <p:cNvPr id="69" name="Google Shape;69;p14" title="Screenshot 2025-11-03 at 12.11.35 AM.png"/>
          <p:cNvPicPr preferRelativeResize="0"/>
          <p:nvPr/>
        </p:nvPicPr>
        <p:blipFill rotWithShape="1">
          <a:blip r:embed="rId3">
            <a:alphaModFix/>
          </a:blip>
          <a:srcRect b="26354" l="0" r="0" t="16476"/>
          <a:stretch/>
        </p:blipFill>
        <p:spPr>
          <a:xfrm>
            <a:off x="4889913" y="2489463"/>
            <a:ext cx="4081623" cy="1099487"/>
          </a:xfrm>
          <a:prstGeom prst="rect">
            <a:avLst/>
          </a:prstGeom>
          <a:noFill/>
          <a:ln>
            <a:noFill/>
          </a:ln>
        </p:spPr>
      </p:pic>
      <p:pic>
        <p:nvPicPr>
          <p:cNvPr id="70" name="Google Shape;70;p14" title="Screenshot 2025-11-03 at 12.13.16 AM.png"/>
          <p:cNvPicPr preferRelativeResize="0"/>
          <p:nvPr/>
        </p:nvPicPr>
        <p:blipFill>
          <a:blip r:embed="rId4">
            <a:alphaModFix/>
          </a:blip>
          <a:stretch>
            <a:fillRect/>
          </a:stretch>
        </p:blipFill>
        <p:spPr>
          <a:xfrm>
            <a:off x="4842850" y="1091550"/>
            <a:ext cx="4175750" cy="1167275"/>
          </a:xfrm>
          <a:prstGeom prst="rect">
            <a:avLst/>
          </a:prstGeom>
          <a:noFill/>
          <a:ln>
            <a:noFill/>
          </a:ln>
        </p:spPr>
      </p:pic>
      <p:pic>
        <p:nvPicPr>
          <p:cNvPr id="71" name="Google Shape;71;p14"/>
          <p:cNvPicPr preferRelativeResize="0"/>
          <p:nvPr/>
        </p:nvPicPr>
        <p:blipFill>
          <a:blip r:embed="rId5">
            <a:alphaModFix/>
          </a:blip>
          <a:stretch>
            <a:fillRect/>
          </a:stretch>
        </p:blipFill>
        <p:spPr>
          <a:xfrm>
            <a:off x="5501990" y="3819588"/>
            <a:ext cx="2857475" cy="7492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Progress to Date: Variable-Camber Simulation</a:t>
            </a:r>
            <a:endParaRPr/>
          </a:p>
        </p:txBody>
      </p:sp>
      <p:sp>
        <p:nvSpPr>
          <p:cNvPr id="77" name="Google Shape;77;p15"/>
          <p:cNvSpPr txBox="1"/>
          <p:nvPr>
            <p:ph idx="1" type="body"/>
          </p:nvPr>
        </p:nvSpPr>
        <p:spPr>
          <a:xfrm>
            <a:off x="311700" y="1152475"/>
            <a:ext cx="2728800" cy="3416400"/>
          </a:xfrm>
          <a:prstGeom prst="rect">
            <a:avLst/>
          </a:prstGeom>
        </p:spPr>
        <p:txBody>
          <a:bodyPr anchorCtr="0" anchor="t" bIns="91425" lIns="91425" spcFirstLastPara="1" rIns="91425" wrap="square" tIns="91425">
            <a:normAutofit fontScale="92500" lnSpcReduction="20000"/>
          </a:bodyPr>
          <a:lstStyle/>
          <a:p>
            <a:pPr indent="0" lvl="0" marL="0" rtl="0" algn="l">
              <a:spcBef>
                <a:spcPts val="1200"/>
              </a:spcBef>
              <a:spcAft>
                <a:spcPts val="0"/>
              </a:spcAft>
              <a:buNone/>
            </a:pPr>
            <a:r>
              <a:rPr lang="en"/>
              <a:t>Prescribed natural curvature (κ₀) to simulate elastic shape morphing. </a:t>
            </a:r>
            <a:endParaRPr/>
          </a:p>
          <a:p>
            <a:pPr indent="0" lvl="0" marL="0" rtl="0" algn="l">
              <a:spcBef>
                <a:spcPts val="1200"/>
              </a:spcBef>
              <a:spcAft>
                <a:spcPts val="0"/>
              </a:spcAft>
              <a:buNone/>
            </a:pPr>
            <a:r>
              <a:rPr lang="en"/>
              <a:t>Natural curvature generated from functions: uniform, exponential, linear, and gaussian curves</a:t>
            </a:r>
            <a:endParaRPr/>
          </a:p>
          <a:p>
            <a:pPr indent="0" lvl="0" marL="0" rtl="0" algn="l">
              <a:spcBef>
                <a:spcPts val="1200"/>
              </a:spcBef>
              <a:spcAft>
                <a:spcPts val="1200"/>
              </a:spcAft>
              <a:buNone/>
            </a:pPr>
            <a:r>
              <a:rPr lang="en"/>
              <a:t>Variable-stiffness functionality integrated — stiffness gradients change deformation sensitivity and response.</a:t>
            </a:r>
            <a:endParaRPr/>
          </a:p>
        </p:txBody>
      </p:sp>
      <p:pic>
        <p:nvPicPr>
          <p:cNvPr id="78" name="Google Shape;78;p15"/>
          <p:cNvPicPr preferRelativeResize="0"/>
          <p:nvPr/>
        </p:nvPicPr>
        <p:blipFill>
          <a:blip r:embed="rId3">
            <a:alphaModFix/>
          </a:blip>
          <a:stretch>
            <a:fillRect/>
          </a:stretch>
        </p:blipFill>
        <p:spPr>
          <a:xfrm>
            <a:off x="6069360" y="1017730"/>
            <a:ext cx="2762934" cy="2174983"/>
          </a:xfrm>
          <a:prstGeom prst="rect">
            <a:avLst/>
          </a:prstGeom>
          <a:noFill/>
          <a:ln>
            <a:noFill/>
          </a:ln>
        </p:spPr>
      </p:pic>
      <p:pic>
        <p:nvPicPr>
          <p:cNvPr id="79" name="Google Shape;79;p15"/>
          <p:cNvPicPr preferRelativeResize="0"/>
          <p:nvPr/>
        </p:nvPicPr>
        <p:blipFill>
          <a:blip r:embed="rId4">
            <a:alphaModFix/>
          </a:blip>
          <a:stretch>
            <a:fillRect/>
          </a:stretch>
        </p:blipFill>
        <p:spPr>
          <a:xfrm>
            <a:off x="6069360" y="3286902"/>
            <a:ext cx="2762935" cy="1243713"/>
          </a:xfrm>
          <a:prstGeom prst="rect">
            <a:avLst/>
          </a:prstGeom>
          <a:noFill/>
          <a:ln>
            <a:noFill/>
          </a:ln>
        </p:spPr>
      </p:pic>
      <p:pic>
        <p:nvPicPr>
          <p:cNvPr id="80" name="Google Shape;80;p15"/>
          <p:cNvPicPr preferRelativeResize="0"/>
          <p:nvPr/>
        </p:nvPicPr>
        <p:blipFill>
          <a:blip r:embed="rId5">
            <a:alphaModFix/>
          </a:blip>
          <a:stretch>
            <a:fillRect/>
          </a:stretch>
        </p:blipFill>
        <p:spPr>
          <a:xfrm>
            <a:off x="3069750" y="1017725"/>
            <a:ext cx="2805951" cy="2174986"/>
          </a:xfrm>
          <a:prstGeom prst="rect">
            <a:avLst/>
          </a:prstGeom>
          <a:noFill/>
          <a:ln>
            <a:noFill/>
          </a:ln>
        </p:spPr>
      </p:pic>
      <p:pic>
        <p:nvPicPr>
          <p:cNvPr id="81" name="Google Shape;81;p15"/>
          <p:cNvPicPr preferRelativeResize="0"/>
          <p:nvPr/>
        </p:nvPicPr>
        <p:blipFill>
          <a:blip r:embed="rId6">
            <a:alphaModFix/>
          </a:blip>
          <a:stretch>
            <a:fillRect/>
          </a:stretch>
        </p:blipFill>
        <p:spPr>
          <a:xfrm>
            <a:off x="3091269" y="3286902"/>
            <a:ext cx="2762930" cy="1243713"/>
          </a:xfrm>
          <a:prstGeom prst="rect">
            <a:avLst/>
          </a:prstGeom>
          <a:noFill/>
          <a:ln>
            <a:noFill/>
          </a:ln>
        </p:spPr>
      </p:pic>
      <p:sp>
        <p:nvSpPr>
          <p:cNvPr id="82" name="Google Shape;82;p15"/>
          <p:cNvSpPr txBox="1"/>
          <p:nvPr/>
        </p:nvSpPr>
        <p:spPr>
          <a:xfrm>
            <a:off x="3116813" y="4530616"/>
            <a:ext cx="2711700" cy="426000"/>
          </a:xfrm>
          <a:prstGeom prst="rect">
            <a:avLst/>
          </a:prstGeom>
          <a:noFill/>
          <a:ln>
            <a:noFill/>
          </a:ln>
        </p:spPr>
        <p:txBody>
          <a:bodyPr anchorCtr="0" anchor="t" bIns="104150" lIns="104150" spcFirstLastPara="1" rIns="104150" wrap="square" tIns="104150">
            <a:spAutoFit/>
          </a:bodyPr>
          <a:lstStyle/>
          <a:p>
            <a:pPr indent="0" lvl="0" marL="0" rtl="0" algn="ctr">
              <a:spcBef>
                <a:spcPts val="0"/>
              </a:spcBef>
              <a:spcAft>
                <a:spcPts val="0"/>
              </a:spcAft>
              <a:buNone/>
            </a:pPr>
            <a:r>
              <a:rPr lang="en">
                <a:solidFill>
                  <a:schemeClr val="accent3"/>
                </a:solidFill>
                <a:latin typeface="Average"/>
                <a:ea typeface="Average"/>
                <a:cs typeface="Average"/>
                <a:sym typeface="Average"/>
              </a:rPr>
              <a:t>Uniform </a:t>
            </a:r>
            <a:r>
              <a:rPr lang="en">
                <a:solidFill>
                  <a:schemeClr val="accent3"/>
                </a:solidFill>
                <a:latin typeface="Average"/>
                <a:ea typeface="Average"/>
                <a:cs typeface="Average"/>
                <a:sym typeface="Average"/>
              </a:rPr>
              <a:t>κ₀</a:t>
            </a:r>
            <a:endParaRPr>
              <a:solidFill>
                <a:schemeClr val="accent3"/>
              </a:solidFill>
              <a:latin typeface="Average"/>
              <a:ea typeface="Average"/>
              <a:cs typeface="Average"/>
              <a:sym typeface="Average"/>
            </a:endParaRPr>
          </a:p>
        </p:txBody>
      </p:sp>
      <p:sp>
        <p:nvSpPr>
          <p:cNvPr id="83" name="Google Shape;83;p15"/>
          <p:cNvSpPr txBox="1"/>
          <p:nvPr/>
        </p:nvSpPr>
        <p:spPr>
          <a:xfrm>
            <a:off x="6094908" y="4530616"/>
            <a:ext cx="2711700" cy="426000"/>
          </a:xfrm>
          <a:prstGeom prst="rect">
            <a:avLst/>
          </a:prstGeom>
          <a:noFill/>
          <a:ln>
            <a:noFill/>
          </a:ln>
        </p:spPr>
        <p:txBody>
          <a:bodyPr anchorCtr="0" anchor="t" bIns="104150" lIns="104150" spcFirstLastPara="1" rIns="104150" wrap="square" tIns="104150">
            <a:spAutoFit/>
          </a:bodyPr>
          <a:lstStyle/>
          <a:p>
            <a:pPr indent="0" lvl="0" marL="0" rtl="0" algn="ctr">
              <a:spcBef>
                <a:spcPts val="0"/>
              </a:spcBef>
              <a:spcAft>
                <a:spcPts val="0"/>
              </a:spcAft>
              <a:buNone/>
            </a:pPr>
            <a:r>
              <a:rPr lang="en">
                <a:solidFill>
                  <a:schemeClr val="accent3"/>
                </a:solidFill>
                <a:latin typeface="Average"/>
                <a:ea typeface="Average"/>
                <a:cs typeface="Average"/>
                <a:sym typeface="Average"/>
              </a:rPr>
              <a:t>Exponential</a:t>
            </a:r>
            <a:r>
              <a:rPr lang="en">
                <a:solidFill>
                  <a:schemeClr val="accent3"/>
                </a:solidFill>
                <a:latin typeface="Average"/>
                <a:ea typeface="Average"/>
                <a:cs typeface="Average"/>
                <a:sym typeface="Average"/>
              </a:rPr>
              <a:t> κ₀</a:t>
            </a:r>
            <a:endParaRPr>
              <a:solidFill>
                <a:schemeClr val="accent3"/>
              </a:solidFill>
              <a:latin typeface="Average"/>
              <a:ea typeface="Average"/>
              <a:cs typeface="Average"/>
              <a:sym typeface="Average"/>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Next Steps</a:t>
            </a:r>
            <a:endParaRPr/>
          </a:p>
        </p:txBody>
      </p:sp>
      <p:sp>
        <p:nvSpPr>
          <p:cNvPr id="89" name="Google Shape;89;p16"/>
          <p:cNvSpPr txBox="1"/>
          <p:nvPr>
            <p:ph idx="1" type="body"/>
          </p:nvPr>
        </p:nvSpPr>
        <p:spPr>
          <a:xfrm>
            <a:off x="311700" y="1152475"/>
            <a:ext cx="8652600" cy="3723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Implement time-dependent actuation to morph between two camber profiles (</a:t>
            </a:r>
            <a:r>
              <a:rPr lang="en"/>
              <a:t>Dynamic Morphing)</a:t>
            </a:r>
            <a:endParaRPr/>
          </a:p>
          <a:p>
            <a:pPr indent="-342900" lvl="0" marL="457200" rtl="0" algn="l">
              <a:spcBef>
                <a:spcPts val="1000"/>
              </a:spcBef>
              <a:spcAft>
                <a:spcPts val="0"/>
              </a:spcAft>
              <a:buSzPts val="1800"/>
              <a:buChar char="●"/>
            </a:pPr>
            <a:r>
              <a:rPr lang="en"/>
              <a:t>Run parametric sweeps: transition time vs. actuation energy vs. peak stress.</a:t>
            </a:r>
            <a:endParaRPr/>
          </a:p>
          <a:p>
            <a:pPr indent="-342900" lvl="0" marL="457200" rtl="0" algn="l">
              <a:spcBef>
                <a:spcPts val="1000"/>
              </a:spcBef>
              <a:spcAft>
                <a:spcPts val="0"/>
              </a:spcAft>
              <a:buSzPts val="1800"/>
              <a:buChar char="●"/>
            </a:pPr>
            <a:r>
              <a:rPr lang="en"/>
              <a:t>Compare total internal bending energy across time for both static &amp; morphing beam</a:t>
            </a:r>
            <a:endParaRPr/>
          </a:p>
          <a:p>
            <a:pPr indent="-342900" lvl="0" marL="457200" rtl="0" algn="l">
              <a:spcBef>
                <a:spcPts val="0"/>
              </a:spcBef>
              <a:spcAft>
                <a:spcPts val="0"/>
              </a:spcAft>
              <a:buSzPts val="1800"/>
              <a:buChar char="●"/>
            </a:pPr>
            <a:r>
              <a:rPr lang="en"/>
              <a:t>Add torque input to accelerate morphing, or test under external forces like gusts</a:t>
            </a:r>
            <a:endParaRPr/>
          </a:p>
          <a:p>
            <a:pPr indent="-342900" lvl="0" marL="457200" rtl="0" algn="l">
              <a:spcBef>
                <a:spcPts val="0"/>
              </a:spcBef>
              <a:spcAft>
                <a:spcPts val="0"/>
              </a:spcAft>
              <a:buSzPts val="1800"/>
              <a:buChar char="●"/>
            </a:pPr>
            <a:r>
              <a:rPr lang="en"/>
              <a:t>Analyze transient metrics: curvature evolution, internal moments, damping/oscillation, and stability.</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